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antason UltraExpanded Bold" charset="1" panose="00000000000000000000"/>
      <p:regular r:id="rId17"/>
    </p:embeddedFont>
    <p:embeddedFont>
      <p:font typeface="Helvetica World Bold" charset="1" panose="020B0800040000020004"/>
      <p:regular r:id="rId18"/>
    </p:embeddedFont>
    <p:embeddedFont>
      <p:font typeface="Anantason UltraExpanded" charset="1" panose="00000000000000000000"/>
      <p:regular r:id="rId19"/>
    </p:embeddedFont>
    <p:embeddedFont>
      <p:font typeface="Helvetica World" charset="1" panose="020B050004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15.jpe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4898" y="799976"/>
            <a:ext cx="16918203" cy="467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6"/>
              </a:lnSpc>
              <a:spcBef>
                <a:spcPct val="0"/>
              </a:spcBef>
            </a:pPr>
            <a:r>
              <a:rPr lang="en-US" b="true" sz="27325" spc="-1912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ADOPTA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557983" y="3908597"/>
            <a:ext cx="10623928" cy="7610476"/>
          </a:xfrm>
          <a:custGeom>
            <a:avLst/>
            <a:gdLst/>
            <a:ahLst/>
            <a:cxnLst/>
            <a:rect r="r" b="b" t="t" l="l"/>
            <a:pathLst>
              <a:path h="7610476" w="10623928">
                <a:moveTo>
                  <a:pt x="0" y="0"/>
                </a:moveTo>
                <a:lnTo>
                  <a:pt x="10623929" y="0"/>
                </a:lnTo>
                <a:lnTo>
                  <a:pt x="10623929" y="7610477"/>
                </a:lnTo>
                <a:lnTo>
                  <a:pt x="0" y="7610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084" r="0" b="-500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31251">
            <a:off x="7579738" y="2674041"/>
            <a:ext cx="1164428" cy="1098797"/>
          </a:xfrm>
          <a:custGeom>
            <a:avLst/>
            <a:gdLst/>
            <a:ahLst/>
            <a:cxnLst/>
            <a:rect r="r" b="b" t="t" l="l"/>
            <a:pathLst>
              <a:path h="1098797" w="1164428">
                <a:moveTo>
                  <a:pt x="0" y="0"/>
                </a:moveTo>
                <a:lnTo>
                  <a:pt x="1164428" y="0"/>
                </a:lnTo>
                <a:lnTo>
                  <a:pt x="1164428" y="1098797"/>
                </a:lnTo>
                <a:lnTo>
                  <a:pt x="0" y="10987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9024742"/>
            <a:ext cx="1731977" cy="231140"/>
            <a:chOff x="0" y="0"/>
            <a:chExt cx="2309302" cy="308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34745"/>
              <a:ext cx="239722" cy="241921"/>
            </a:xfrm>
            <a:custGeom>
              <a:avLst/>
              <a:gdLst/>
              <a:ahLst/>
              <a:cxnLst/>
              <a:rect r="r" b="b" t="t" l="l"/>
              <a:pathLst>
                <a:path h="241921" w="239722">
                  <a:moveTo>
                    <a:pt x="0" y="0"/>
                  </a:moveTo>
                  <a:lnTo>
                    <a:pt x="239722" y="0"/>
                  </a:lnTo>
                  <a:lnTo>
                    <a:pt x="239722" y="241921"/>
                  </a:lnTo>
                  <a:lnTo>
                    <a:pt x="0" y="241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42687" y="-28575"/>
              <a:ext cx="1966615" cy="336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  <a:spcBef>
                  <a:spcPct val="0"/>
                </a:spcBef>
              </a:pPr>
              <a:r>
                <a:rPr lang="en-US" b="true" sz="1400" spc="-28">
                  <a:solidFill>
                    <a:srgbClr val="2832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UTP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92306" y="7223682"/>
            <a:ext cx="4149524" cy="2436041"/>
            <a:chOff x="0" y="0"/>
            <a:chExt cx="1092879" cy="641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2879" cy="641591"/>
            </a:xfrm>
            <a:custGeom>
              <a:avLst/>
              <a:gdLst/>
              <a:ahLst/>
              <a:cxnLst/>
              <a:rect r="r" b="b" t="t" l="l"/>
              <a:pathLst>
                <a:path h="641591" w="1092879">
                  <a:moveTo>
                    <a:pt x="83958" y="0"/>
                  </a:moveTo>
                  <a:lnTo>
                    <a:pt x="1008921" y="0"/>
                  </a:lnTo>
                  <a:cubicBezTo>
                    <a:pt x="1031188" y="0"/>
                    <a:pt x="1052543" y="8846"/>
                    <a:pt x="1068288" y="24591"/>
                  </a:cubicBezTo>
                  <a:cubicBezTo>
                    <a:pt x="1084033" y="40336"/>
                    <a:pt x="1092879" y="61691"/>
                    <a:pt x="1092879" y="83958"/>
                  </a:cubicBezTo>
                  <a:lnTo>
                    <a:pt x="1092879" y="557633"/>
                  </a:lnTo>
                  <a:cubicBezTo>
                    <a:pt x="1092879" y="579900"/>
                    <a:pt x="1084033" y="601255"/>
                    <a:pt x="1068288" y="617000"/>
                  </a:cubicBezTo>
                  <a:cubicBezTo>
                    <a:pt x="1052543" y="632745"/>
                    <a:pt x="1031188" y="641591"/>
                    <a:pt x="1008921" y="641591"/>
                  </a:cubicBezTo>
                  <a:lnTo>
                    <a:pt x="83958" y="641591"/>
                  </a:lnTo>
                  <a:cubicBezTo>
                    <a:pt x="61691" y="641591"/>
                    <a:pt x="40336" y="632745"/>
                    <a:pt x="24591" y="617000"/>
                  </a:cubicBezTo>
                  <a:cubicBezTo>
                    <a:pt x="8846" y="601255"/>
                    <a:pt x="0" y="579900"/>
                    <a:pt x="0" y="557633"/>
                  </a:cubicBezTo>
                  <a:lnTo>
                    <a:pt x="0" y="83958"/>
                  </a:lnTo>
                  <a:cubicBezTo>
                    <a:pt x="0" y="61691"/>
                    <a:pt x="8846" y="40336"/>
                    <a:pt x="24591" y="24591"/>
                  </a:cubicBezTo>
                  <a:cubicBezTo>
                    <a:pt x="40336" y="8846"/>
                    <a:pt x="61691" y="0"/>
                    <a:pt x="8395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2879" cy="679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b="true" sz="1500" spc="-3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ROBELO ZUMARI, EDISON</a:t>
              </a: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b="true" sz="1500" spc="-3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Luna Ramos Anthony Jamir</a:t>
              </a: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b="true" sz="1500" spc="-3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Peralta Zarate, Kiara Vanessa</a:t>
              </a: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b="true" sz="1500" spc="-3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RAMÍREZ CASTRO, EDU</a:t>
              </a:r>
            </a:p>
            <a:p>
              <a:pPr algn="l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5306558"/>
            <a:ext cx="2252753" cy="17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spc="-21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Sistema web de Animales abandonados y dificultad para encontrar hogar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2114" y="4457775"/>
            <a:ext cx="16918203" cy="122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83"/>
              </a:lnSpc>
              <a:spcBef>
                <a:spcPct val="0"/>
              </a:spcBef>
            </a:pPr>
            <a:r>
              <a:rPr lang="en-US" b="true" sz="7130" spc="-499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AMIGO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627528" y="2372019"/>
            <a:ext cx="6622110" cy="8382224"/>
            <a:chOff x="0" y="0"/>
            <a:chExt cx="1744095" cy="2207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4095" cy="2207664"/>
            </a:xfrm>
            <a:custGeom>
              <a:avLst/>
              <a:gdLst/>
              <a:ahLst/>
              <a:cxnLst/>
              <a:rect r="r" b="b" t="t" l="l"/>
              <a:pathLst>
                <a:path h="2207664" w="1744095">
                  <a:moveTo>
                    <a:pt x="52610" y="0"/>
                  </a:moveTo>
                  <a:lnTo>
                    <a:pt x="1691485" y="0"/>
                  </a:lnTo>
                  <a:cubicBezTo>
                    <a:pt x="1705438" y="0"/>
                    <a:pt x="1718820" y="5543"/>
                    <a:pt x="1728686" y="15409"/>
                  </a:cubicBezTo>
                  <a:cubicBezTo>
                    <a:pt x="1738552" y="25275"/>
                    <a:pt x="1744095" y="38657"/>
                    <a:pt x="1744095" y="52610"/>
                  </a:cubicBezTo>
                  <a:lnTo>
                    <a:pt x="1744095" y="2155055"/>
                  </a:lnTo>
                  <a:cubicBezTo>
                    <a:pt x="1744095" y="2169008"/>
                    <a:pt x="1738552" y="2182389"/>
                    <a:pt x="1728686" y="2192255"/>
                  </a:cubicBezTo>
                  <a:cubicBezTo>
                    <a:pt x="1718820" y="2202121"/>
                    <a:pt x="1705438" y="2207664"/>
                    <a:pt x="1691485" y="2207664"/>
                  </a:cubicBezTo>
                  <a:lnTo>
                    <a:pt x="52610" y="2207664"/>
                  </a:lnTo>
                  <a:cubicBezTo>
                    <a:pt x="23554" y="2207664"/>
                    <a:pt x="0" y="2184110"/>
                    <a:pt x="0" y="2155055"/>
                  </a:cubicBezTo>
                  <a:lnTo>
                    <a:pt x="0" y="52610"/>
                  </a:lnTo>
                  <a:cubicBezTo>
                    <a:pt x="0" y="38657"/>
                    <a:pt x="5543" y="25275"/>
                    <a:pt x="15409" y="15409"/>
                  </a:cubicBezTo>
                  <a:cubicBezTo>
                    <a:pt x="25275" y="5543"/>
                    <a:pt x="38657" y="0"/>
                    <a:pt x="52610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744095" cy="2236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19167" y="2243431"/>
            <a:ext cx="8667101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Problematica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9167" y="3363110"/>
            <a:ext cx="108404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actual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38225"/>
            <a:ext cx="2274712" cy="24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UTP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2100556"/>
            <a:ext cx="4715580" cy="7157744"/>
            <a:chOff x="0" y="0"/>
            <a:chExt cx="631966" cy="9592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1966" cy="959256"/>
            </a:xfrm>
            <a:custGeom>
              <a:avLst/>
              <a:gdLst/>
              <a:ahLst/>
              <a:cxnLst/>
              <a:rect r="r" b="b" t="t" l="l"/>
              <a:pathLst>
                <a:path h="959256" w="631966">
                  <a:moveTo>
                    <a:pt x="73880" y="0"/>
                  </a:moveTo>
                  <a:lnTo>
                    <a:pt x="558086" y="0"/>
                  </a:lnTo>
                  <a:cubicBezTo>
                    <a:pt x="577680" y="0"/>
                    <a:pt x="596472" y="7784"/>
                    <a:pt x="610327" y="21639"/>
                  </a:cubicBezTo>
                  <a:cubicBezTo>
                    <a:pt x="624182" y="35494"/>
                    <a:pt x="631966" y="54286"/>
                    <a:pt x="631966" y="73880"/>
                  </a:cubicBezTo>
                  <a:lnTo>
                    <a:pt x="631966" y="885376"/>
                  </a:lnTo>
                  <a:cubicBezTo>
                    <a:pt x="631966" y="904971"/>
                    <a:pt x="624182" y="923762"/>
                    <a:pt x="610327" y="937617"/>
                  </a:cubicBezTo>
                  <a:cubicBezTo>
                    <a:pt x="596472" y="951473"/>
                    <a:pt x="577680" y="959256"/>
                    <a:pt x="558086" y="959256"/>
                  </a:cubicBezTo>
                  <a:lnTo>
                    <a:pt x="73880" y="959256"/>
                  </a:lnTo>
                  <a:cubicBezTo>
                    <a:pt x="54286" y="959256"/>
                    <a:pt x="35494" y="951473"/>
                    <a:pt x="21639" y="937617"/>
                  </a:cubicBezTo>
                  <a:cubicBezTo>
                    <a:pt x="7784" y="923762"/>
                    <a:pt x="0" y="904971"/>
                    <a:pt x="0" y="885376"/>
                  </a:cubicBezTo>
                  <a:lnTo>
                    <a:pt x="0" y="73880"/>
                  </a:lnTo>
                  <a:cubicBezTo>
                    <a:pt x="0" y="54286"/>
                    <a:pt x="7784" y="35494"/>
                    <a:pt x="21639" y="21639"/>
                  </a:cubicBezTo>
                  <a:cubicBezTo>
                    <a:pt x="35494" y="7784"/>
                    <a:pt x="54286" y="0"/>
                    <a:pt x="73880" y="0"/>
                  </a:cubicBezTo>
                  <a:close/>
                </a:path>
              </a:pathLst>
            </a:custGeom>
            <a:blipFill>
              <a:blip r:embed="rId2"/>
              <a:stretch>
                <a:fillRect l="-6989" t="0" r="-6989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719167" y="4684665"/>
            <a:ext cx="9604328" cy="30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 el Perú, el abandono de animales representa una problemática que afecta a numerosos perros y gatos que terminan viviendo en las calles o bajo el cuidado temporal de refugios y rescatistas. Estos animales pueden encontrarse en situaciones de vulnerabilidad y requieren atención, cuidados y, principalmente, encontrar un hogar donde puedan recibir una vida adecuada.</a:t>
            </a:r>
          </a:p>
          <a:p>
            <a:pPr algn="just">
              <a:lnSpc>
                <a:spcPts val="274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982091" y="2706963"/>
            <a:ext cx="5847556" cy="3245848"/>
            <a:chOff x="0" y="0"/>
            <a:chExt cx="1540097" cy="85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0097" cy="854874"/>
            </a:xfrm>
            <a:custGeom>
              <a:avLst/>
              <a:gdLst/>
              <a:ahLst/>
              <a:cxnLst/>
              <a:rect r="r" b="b" t="t" l="l"/>
              <a:pathLst>
                <a:path h="854874" w="1540097">
                  <a:moveTo>
                    <a:pt x="59578" y="0"/>
                  </a:moveTo>
                  <a:lnTo>
                    <a:pt x="1480519" y="0"/>
                  </a:lnTo>
                  <a:cubicBezTo>
                    <a:pt x="1513423" y="0"/>
                    <a:pt x="1540097" y="26674"/>
                    <a:pt x="1540097" y="59578"/>
                  </a:cubicBezTo>
                  <a:lnTo>
                    <a:pt x="1540097" y="795295"/>
                  </a:lnTo>
                  <a:cubicBezTo>
                    <a:pt x="1540097" y="828200"/>
                    <a:pt x="1513423" y="854874"/>
                    <a:pt x="1480519" y="854874"/>
                  </a:cubicBezTo>
                  <a:lnTo>
                    <a:pt x="59578" y="854874"/>
                  </a:lnTo>
                  <a:cubicBezTo>
                    <a:pt x="26674" y="854874"/>
                    <a:pt x="0" y="828200"/>
                    <a:pt x="0" y="795295"/>
                  </a:cubicBezTo>
                  <a:lnTo>
                    <a:pt x="0" y="59578"/>
                  </a:lnTo>
                  <a:cubicBezTo>
                    <a:pt x="0" y="26674"/>
                    <a:pt x="26674" y="0"/>
                    <a:pt x="5957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40097" cy="88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791511" y="7635376"/>
            <a:ext cx="4938296" cy="3245848"/>
            <a:chOff x="0" y="0"/>
            <a:chExt cx="1300621" cy="854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621" cy="854874"/>
            </a:xfrm>
            <a:custGeom>
              <a:avLst/>
              <a:gdLst/>
              <a:ahLst/>
              <a:cxnLst/>
              <a:rect r="r" b="b" t="t" l="l"/>
              <a:pathLst>
                <a:path h="854874" w="1300621">
                  <a:moveTo>
                    <a:pt x="70548" y="0"/>
                  </a:moveTo>
                  <a:lnTo>
                    <a:pt x="1230073" y="0"/>
                  </a:lnTo>
                  <a:cubicBezTo>
                    <a:pt x="1269036" y="0"/>
                    <a:pt x="1300621" y="31585"/>
                    <a:pt x="1300621" y="70548"/>
                  </a:cubicBezTo>
                  <a:lnTo>
                    <a:pt x="1300621" y="784326"/>
                  </a:lnTo>
                  <a:cubicBezTo>
                    <a:pt x="1300621" y="803036"/>
                    <a:pt x="1293188" y="820980"/>
                    <a:pt x="1279958" y="834211"/>
                  </a:cubicBezTo>
                  <a:cubicBezTo>
                    <a:pt x="1266728" y="847441"/>
                    <a:pt x="1248784" y="854874"/>
                    <a:pt x="1230073" y="854874"/>
                  </a:cubicBezTo>
                  <a:lnTo>
                    <a:pt x="70548" y="854874"/>
                  </a:lnTo>
                  <a:cubicBezTo>
                    <a:pt x="51837" y="854874"/>
                    <a:pt x="33893" y="847441"/>
                    <a:pt x="20663" y="834211"/>
                  </a:cubicBezTo>
                  <a:cubicBezTo>
                    <a:pt x="7433" y="820980"/>
                    <a:pt x="0" y="803036"/>
                    <a:pt x="0" y="784326"/>
                  </a:cubicBezTo>
                  <a:lnTo>
                    <a:pt x="0" y="70548"/>
                  </a:lnTo>
                  <a:cubicBezTo>
                    <a:pt x="0" y="51837"/>
                    <a:pt x="7433" y="33893"/>
                    <a:pt x="20663" y="20663"/>
                  </a:cubicBezTo>
                  <a:cubicBezTo>
                    <a:pt x="33893" y="7433"/>
                    <a:pt x="51837" y="0"/>
                    <a:pt x="7054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300621" cy="88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82629" y="2100556"/>
            <a:ext cx="3976671" cy="4469659"/>
            <a:chOff x="0" y="0"/>
            <a:chExt cx="812800" cy="9135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913563"/>
            </a:xfrm>
            <a:custGeom>
              <a:avLst/>
              <a:gdLst/>
              <a:ahLst/>
              <a:cxnLst/>
              <a:rect r="r" b="b" t="t" l="l"/>
              <a:pathLst>
                <a:path h="913563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825955"/>
                  </a:lnTo>
                  <a:cubicBezTo>
                    <a:pt x="812800" y="874340"/>
                    <a:pt x="773577" y="913563"/>
                    <a:pt x="725192" y="913563"/>
                  </a:cubicBezTo>
                  <a:lnTo>
                    <a:pt x="87608" y="913563"/>
                  </a:lnTo>
                  <a:cubicBezTo>
                    <a:pt x="39223" y="913563"/>
                    <a:pt x="0" y="874340"/>
                    <a:pt x="0" y="825955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2"/>
              <a:stretch>
                <a:fillRect l="-1829" t="-15434" r="0" b="-5509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243431"/>
            <a:ext cx="11355812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Justificación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265447"/>
            <a:ext cx="9707286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del proyecto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8700" y="4891774"/>
            <a:ext cx="11355812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1038225"/>
            <a:ext cx="2274712" cy="24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ADOPTAAMIGO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477561"/>
            <a:ext cx="11760496" cy="328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8"/>
              </a:lnSpc>
            </a:pPr>
            <a:r>
              <a:rPr lang="en-US" sz="2980" spc="-29">
                <a:solidFill>
                  <a:srgbClr val="EE6703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La implementación de una plataforma web permitirá publicar y consultar animales disponibles para adopción, mostrando información relevante sobre sus características, necesidades y condiciones de adopción. De esta manera, las personas interesadas podrán encontrar información de una forma más organizada y acceder a los datos necesarios para conocer al animal antes de iniciar un proceso de adopción.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243431"/>
            <a:ext cx="65289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Objetivo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99134" y="2100556"/>
            <a:ext cx="4768122" cy="9019983"/>
            <a:chOff x="0" y="0"/>
            <a:chExt cx="1255802" cy="23756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5802" cy="2375633"/>
            </a:xfrm>
            <a:custGeom>
              <a:avLst/>
              <a:gdLst/>
              <a:ahLst/>
              <a:cxnLst/>
              <a:rect r="r" b="b" t="t" l="l"/>
              <a:pathLst>
                <a:path h="2375633" w="1255802">
                  <a:moveTo>
                    <a:pt x="73066" y="0"/>
                  </a:moveTo>
                  <a:lnTo>
                    <a:pt x="1182736" y="0"/>
                  </a:lnTo>
                  <a:cubicBezTo>
                    <a:pt x="1202114" y="0"/>
                    <a:pt x="1220699" y="7698"/>
                    <a:pt x="1234401" y="21400"/>
                  </a:cubicBezTo>
                  <a:cubicBezTo>
                    <a:pt x="1248104" y="35103"/>
                    <a:pt x="1255802" y="53688"/>
                    <a:pt x="1255802" y="73066"/>
                  </a:cubicBezTo>
                  <a:lnTo>
                    <a:pt x="1255802" y="2302568"/>
                  </a:lnTo>
                  <a:cubicBezTo>
                    <a:pt x="1255802" y="2321946"/>
                    <a:pt x="1248104" y="2340530"/>
                    <a:pt x="1234401" y="2354233"/>
                  </a:cubicBezTo>
                  <a:cubicBezTo>
                    <a:pt x="1220699" y="2367935"/>
                    <a:pt x="1202114" y="2375633"/>
                    <a:pt x="1182736" y="2375633"/>
                  </a:cubicBezTo>
                  <a:lnTo>
                    <a:pt x="73066" y="2375633"/>
                  </a:lnTo>
                  <a:cubicBezTo>
                    <a:pt x="53688" y="2375633"/>
                    <a:pt x="35103" y="2367935"/>
                    <a:pt x="21400" y="2354233"/>
                  </a:cubicBezTo>
                  <a:cubicBezTo>
                    <a:pt x="7698" y="2340530"/>
                    <a:pt x="0" y="2321946"/>
                    <a:pt x="0" y="2302568"/>
                  </a:cubicBezTo>
                  <a:lnTo>
                    <a:pt x="0" y="73066"/>
                  </a:lnTo>
                  <a:cubicBezTo>
                    <a:pt x="0" y="53688"/>
                    <a:pt x="7698" y="35103"/>
                    <a:pt x="21400" y="21400"/>
                  </a:cubicBezTo>
                  <a:cubicBezTo>
                    <a:pt x="35103" y="7698"/>
                    <a:pt x="53688" y="0"/>
                    <a:pt x="73066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55802" cy="2404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807679" y="4748309"/>
            <a:ext cx="4768122" cy="6372230"/>
            <a:chOff x="0" y="0"/>
            <a:chExt cx="1255802" cy="16782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5802" cy="1678283"/>
            </a:xfrm>
            <a:custGeom>
              <a:avLst/>
              <a:gdLst/>
              <a:ahLst/>
              <a:cxnLst/>
              <a:rect r="r" b="b" t="t" l="l"/>
              <a:pathLst>
                <a:path h="1678283" w="1255802">
                  <a:moveTo>
                    <a:pt x="73066" y="0"/>
                  </a:moveTo>
                  <a:lnTo>
                    <a:pt x="1182736" y="0"/>
                  </a:lnTo>
                  <a:cubicBezTo>
                    <a:pt x="1202114" y="0"/>
                    <a:pt x="1220699" y="7698"/>
                    <a:pt x="1234401" y="21400"/>
                  </a:cubicBezTo>
                  <a:cubicBezTo>
                    <a:pt x="1248104" y="35103"/>
                    <a:pt x="1255802" y="53688"/>
                    <a:pt x="1255802" y="73066"/>
                  </a:cubicBezTo>
                  <a:lnTo>
                    <a:pt x="1255802" y="1605217"/>
                  </a:lnTo>
                  <a:cubicBezTo>
                    <a:pt x="1255802" y="1624595"/>
                    <a:pt x="1248104" y="1643180"/>
                    <a:pt x="1234401" y="1656882"/>
                  </a:cubicBezTo>
                  <a:cubicBezTo>
                    <a:pt x="1220699" y="1670585"/>
                    <a:pt x="1202114" y="1678283"/>
                    <a:pt x="1182736" y="1678283"/>
                  </a:cubicBezTo>
                  <a:lnTo>
                    <a:pt x="73066" y="1678283"/>
                  </a:lnTo>
                  <a:cubicBezTo>
                    <a:pt x="53688" y="1678283"/>
                    <a:pt x="35103" y="1670585"/>
                    <a:pt x="21400" y="1656882"/>
                  </a:cubicBezTo>
                  <a:cubicBezTo>
                    <a:pt x="7698" y="1643180"/>
                    <a:pt x="0" y="1624595"/>
                    <a:pt x="0" y="1605217"/>
                  </a:cubicBezTo>
                  <a:lnTo>
                    <a:pt x="0" y="73066"/>
                  </a:lnTo>
                  <a:cubicBezTo>
                    <a:pt x="0" y="53688"/>
                    <a:pt x="7698" y="35103"/>
                    <a:pt x="21400" y="21400"/>
                  </a:cubicBezTo>
                  <a:cubicBezTo>
                    <a:pt x="35103" y="7698"/>
                    <a:pt x="53688" y="0"/>
                    <a:pt x="73066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55802" cy="1706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934131" y="2252919"/>
            <a:ext cx="844438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del proyecto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038225"/>
            <a:ext cx="2931743" cy="24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ADOPTAAMIGO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3932495"/>
            <a:ext cx="4715580" cy="5325805"/>
            <a:chOff x="0" y="0"/>
            <a:chExt cx="631966" cy="7137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966" cy="713746"/>
            </a:xfrm>
            <a:custGeom>
              <a:avLst/>
              <a:gdLst/>
              <a:ahLst/>
              <a:cxnLst/>
              <a:rect r="r" b="b" t="t" l="l"/>
              <a:pathLst>
                <a:path h="713746" w="631966">
                  <a:moveTo>
                    <a:pt x="73880" y="0"/>
                  </a:moveTo>
                  <a:lnTo>
                    <a:pt x="558086" y="0"/>
                  </a:lnTo>
                  <a:cubicBezTo>
                    <a:pt x="577680" y="0"/>
                    <a:pt x="596472" y="7784"/>
                    <a:pt x="610327" y="21639"/>
                  </a:cubicBezTo>
                  <a:cubicBezTo>
                    <a:pt x="624182" y="35494"/>
                    <a:pt x="631966" y="54286"/>
                    <a:pt x="631966" y="73880"/>
                  </a:cubicBezTo>
                  <a:lnTo>
                    <a:pt x="631966" y="639866"/>
                  </a:lnTo>
                  <a:cubicBezTo>
                    <a:pt x="631966" y="659460"/>
                    <a:pt x="624182" y="678252"/>
                    <a:pt x="610327" y="692107"/>
                  </a:cubicBezTo>
                  <a:cubicBezTo>
                    <a:pt x="596472" y="705962"/>
                    <a:pt x="577680" y="713746"/>
                    <a:pt x="558086" y="713746"/>
                  </a:cubicBezTo>
                  <a:lnTo>
                    <a:pt x="73880" y="713746"/>
                  </a:lnTo>
                  <a:cubicBezTo>
                    <a:pt x="54286" y="713746"/>
                    <a:pt x="35494" y="705962"/>
                    <a:pt x="21639" y="692107"/>
                  </a:cubicBezTo>
                  <a:cubicBezTo>
                    <a:pt x="7784" y="678252"/>
                    <a:pt x="0" y="659460"/>
                    <a:pt x="0" y="639866"/>
                  </a:cubicBezTo>
                  <a:lnTo>
                    <a:pt x="0" y="73880"/>
                  </a:lnTo>
                  <a:cubicBezTo>
                    <a:pt x="0" y="54286"/>
                    <a:pt x="7784" y="35494"/>
                    <a:pt x="21639" y="21639"/>
                  </a:cubicBezTo>
                  <a:cubicBezTo>
                    <a:pt x="35494" y="7784"/>
                    <a:pt x="54286" y="0"/>
                    <a:pt x="7388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0772" r="0" b="-11919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744280" y="3932495"/>
            <a:ext cx="10727129" cy="5842365"/>
            <a:chOff x="0" y="0"/>
            <a:chExt cx="2825252" cy="1538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25252" cy="1538730"/>
            </a:xfrm>
            <a:custGeom>
              <a:avLst/>
              <a:gdLst/>
              <a:ahLst/>
              <a:cxnLst/>
              <a:rect r="r" b="b" t="t" l="l"/>
              <a:pathLst>
                <a:path h="1538730" w="2825252">
                  <a:moveTo>
                    <a:pt x="32477" y="0"/>
                  </a:moveTo>
                  <a:lnTo>
                    <a:pt x="2792775" y="0"/>
                  </a:lnTo>
                  <a:cubicBezTo>
                    <a:pt x="2810712" y="0"/>
                    <a:pt x="2825252" y="14541"/>
                    <a:pt x="2825252" y="32477"/>
                  </a:cubicBezTo>
                  <a:lnTo>
                    <a:pt x="2825252" y="1506253"/>
                  </a:lnTo>
                  <a:cubicBezTo>
                    <a:pt x="2825252" y="1524189"/>
                    <a:pt x="2810712" y="1538730"/>
                    <a:pt x="2792775" y="1538730"/>
                  </a:cubicBezTo>
                  <a:lnTo>
                    <a:pt x="32477" y="1538730"/>
                  </a:lnTo>
                  <a:cubicBezTo>
                    <a:pt x="14541" y="1538730"/>
                    <a:pt x="0" y="1524189"/>
                    <a:pt x="0" y="1506253"/>
                  </a:cubicBezTo>
                  <a:lnTo>
                    <a:pt x="0" y="32477"/>
                  </a:lnTo>
                  <a:cubicBezTo>
                    <a:pt x="0" y="14541"/>
                    <a:pt x="14541" y="0"/>
                    <a:pt x="32477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825252" cy="1567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050512" y="4180145"/>
            <a:ext cx="10146120" cy="549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</a:p>
          <a:p>
            <a:pPr algn="just">
              <a:lnSpc>
                <a:spcPts val="2757"/>
              </a:lnSpc>
            </a:pPr>
            <a:r>
              <a:rPr lang="en-US" sz="2506">
                <a:solidFill>
                  <a:srgbClr val="6E77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OBJETIVO GENERAL</a:t>
            </a:r>
          </a:p>
          <a:p>
            <a:pPr algn="just">
              <a:lnSpc>
                <a:spcPts val="2757"/>
              </a:lnSpc>
            </a:pPr>
            <a:r>
              <a:rPr lang="en-US" sz="2506">
                <a:solidFill>
                  <a:srgbClr val="6E77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Desarrollar una plataforma web denominada “AdoptaAmigo” que permita publicar y consultar información de animales abandonados disponibles para adopción, facilitando el contacto entre posibles adoptantes y las personas o organizaciones encargadas de su cuidado en el Perú.</a:t>
            </a:r>
          </a:p>
          <a:p>
            <a:pPr algn="just">
              <a:lnSpc>
                <a:spcPts val="2757"/>
              </a:lnSpc>
            </a:pPr>
          </a:p>
          <a:p>
            <a:pPr algn="just">
              <a:lnSpc>
                <a:spcPts val="2757"/>
              </a:lnSpc>
            </a:pPr>
          </a:p>
          <a:p>
            <a:pPr algn="just">
              <a:lnSpc>
                <a:spcPts val="2757"/>
              </a:lnSpc>
            </a:pPr>
            <a:r>
              <a:rPr lang="en-US" sz="2506">
                <a:solidFill>
                  <a:srgbClr val="6E77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OBJETIVOS ESPECIFICOS</a:t>
            </a:r>
          </a:p>
          <a:p>
            <a:pPr algn="just" marL="541255" indent="-270628" lvl="1">
              <a:lnSpc>
                <a:spcPts val="2757"/>
              </a:lnSpc>
              <a:buFont typeface="Arial"/>
              <a:buChar char="•"/>
            </a:pPr>
            <a:r>
              <a:rPr lang="en-US" sz="2506">
                <a:solidFill>
                  <a:srgbClr val="6E77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Permitir el regist</a:t>
            </a:r>
            <a:r>
              <a:rPr lang="en-US" sz="2506">
                <a:solidFill>
                  <a:srgbClr val="6E77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 y publicación de animales disponibles para adopción.</a:t>
            </a:r>
          </a:p>
          <a:p>
            <a:pPr algn="just" marL="541255" indent="-270628" lvl="1">
              <a:lnSpc>
                <a:spcPts val="2757"/>
              </a:lnSpc>
              <a:buFont typeface="Arial"/>
              <a:buChar char="•"/>
            </a:pPr>
            <a:r>
              <a:rPr lang="en-US" sz="2506">
                <a:solidFill>
                  <a:srgbClr val="6E77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Mostrar información relevante sobre las características, necesidades y condiciones de adopción de cada animal.</a:t>
            </a:r>
          </a:p>
          <a:p>
            <a:pPr algn="just" marL="541255" indent="-270628" lvl="1">
              <a:lnSpc>
                <a:spcPts val="2757"/>
              </a:lnSpc>
              <a:buFont typeface="Arial"/>
              <a:buChar char="•"/>
            </a:pPr>
            <a:r>
              <a:rPr lang="en-US" sz="2506">
                <a:solidFill>
                  <a:srgbClr val="6E77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Facilitar la búsqueda y consulta de animales disponibles mediante una plataforma organizada y accesible.</a:t>
            </a:r>
          </a:p>
          <a:p>
            <a:pPr algn="just">
              <a:lnSpc>
                <a:spcPts val="2757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6551634" y="4386639"/>
            <a:ext cx="230457" cy="215194"/>
            <a:chOff x="0" y="0"/>
            <a:chExt cx="870452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0452" cy="812800"/>
            </a:xfrm>
            <a:custGeom>
              <a:avLst/>
              <a:gdLst/>
              <a:ahLst/>
              <a:cxnLst/>
              <a:rect r="r" b="b" t="t" l="l"/>
              <a:pathLst>
                <a:path h="812800" w="870452">
                  <a:moveTo>
                    <a:pt x="435226" y="0"/>
                  </a:moveTo>
                  <a:cubicBezTo>
                    <a:pt x="194857" y="0"/>
                    <a:pt x="0" y="181951"/>
                    <a:pt x="0" y="406400"/>
                  </a:cubicBezTo>
                  <a:cubicBezTo>
                    <a:pt x="0" y="630849"/>
                    <a:pt x="194857" y="812800"/>
                    <a:pt x="435226" y="812800"/>
                  </a:cubicBezTo>
                  <a:cubicBezTo>
                    <a:pt x="675594" y="812800"/>
                    <a:pt x="870452" y="630849"/>
                    <a:pt x="870452" y="406400"/>
                  </a:cubicBezTo>
                  <a:cubicBezTo>
                    <a:pt x="870452" y="181951"/>
                    <a:pt x="675594" y="0"/>
                    <a:pt x="435226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81605" y="47625"/>
              <a:ext cx="707242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652548" y="2891949"/>
            <a:ext cx="7630606" cy="8228590"/>
            <a:chOff x="0" y="0"/>
            <a:chExt cx="2009707" cy="21672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09707" cy="2167201"/>
            </a:xfrm>
            <a:custGeom>
              <a:avLst/>
              <a:gdLst/>
              <a:ahLst/>
              <a:cxnLst/>
              <a:rect r="r" b="b" t="t" l="l"/>
              <a:pathLst>
                <a:path h="2167201" w="2009707">
                  <a:moveTo>
                    <a:pt x="45656" y="0"/>
                  </a:moveTo>
                  <a:lnTo>
                    <a:pt x="1964050" y="0"/>
                  </a:lnTo>
                  <a:cubicBezTo>
                    <a:pt x="1976159" y="0"/>
                    <a:pt x="1987772" y="4810"/>
                    <a:pt x="1996335" y="13372"/>
                  </a:cubicBezTo>
                  <a:cubicBezTo>
                    <a:pt x="2004897" y="21935"/>
                    <a:pt x="2009707" y="33548"/>
                    <a:pt x="2009707" y="45656"/>
                  </a:cubicBezTo>
                  <a:lnTo>
                    <a:pt x="2009707" y="2121544"/>
                  </a:lnTo>
                  <a:cubicBezTo>
                    <a:pt x="2009707" y="2133653"/>
                    <a:pt x="2004897" y="2145266"/>
                    <a:pt x="1996335" y="2153828"/>
                  </a:cubicBezTo>
                  <a:cubicBezTo>
                    <a:pt x="1987772" y="2162390"/>
                    <a:pt x="1976159" y="2167201"/>
                    <a:pt x="1964050" y="2167201"/>
                  </a:cubicBezTo>
                  <a:lnTo>
                    <a:pt x="45656" y="2167201"/>
                  </a:lnTo>
                  <a:cubicBezTo>
                    <a:pt x="33548" y="2167201"/>
                    <a:pt x="21935" y="2162390"/>
                    <a:pt x="13372" y="2153828"/>
                  </a:cubicBezTo>
                  <a:cubicBezTo>
                    <a:pt x="4810" y="2145266"/>
                    <a:pt x="0" y="2133653"/>
                    <a:pt x="0" y="2121544"/>
                  </a:cubicBezTo>
                  <a:lnTo>
                    <a:pt x="0" y="45656"/>
                  </a:lnTo>
                  <a:cubicBezTo>
                    <a:pt x="0" y="33548"/>
                    <a:pt x="4810" y="21935"/>
                    <a:pt x="13372" y="13372"/>
                  </a:cubicBezTo>
                  <a:cubicBezTo>
                    <a:pt x="21935" y="4810"/>
                    <a:pt x="33548" y="0"/>
                    <a:pt x="45656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009707" cy="2195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852637" y="2955126"/>
            <a:ext cx="7772971" cy="142184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3282629" y="2100556"/>
            <a:ext cx="3976671" cy="4469659"/>
            <a:chOff x="0" y="0"/>
            <a:chExt cx="812800" cy="9135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13563"/>
            </a:xfrm>
            <a:custGeom>
              <a:avLst/>
              <a:gdLst/>
              <a:ahLst/>
              <a:cxnLst/>
              <a:rect r="r" b="b" t="t" l="l"/>
              <a:pathLst>
                <a:path h="913563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825955"/>
                  </a:lnTo>
                  <a:cubicBezTo>
                    <a:pt x="812800" y="874340"/>
                    <a:pt x="773577" y="913563"/>
                    <a:pt x="725192" y="913563"/>
                  </a:cubicBezTo>
                  <a:lnTo>
                    <a:pt x="87608" y="913563"/>
                  </a:lnTo>
                  <a:cubicBezTo>
                    <a:pt x="39223" y="913563"/>
                    <a:pt x="0" y="874340"/>
                    <a:pt x="0" y="825955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2"/>
              <a:stretch>
                <a:fillRect l="-34221" t="0" r="-34221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011308" y="6819877"/>
            <a:ext cx="3718605" cy="2523096"/>
            <a:chOff x="0" y="0"/>
            <a:chExt cx="119792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79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97926">
                  <a:moveTo>
                    <a:pt x="93687" y="0"/>
                  </a:moveTo>
                  <a:lnTo>
                    <a:pt x="1104238" y="0"/>
                  </a:lnTo>
                  <a:cubicBezTo>
                    <a:pt x="1129086" y="0"/>
                    <a:pt x="1152915" y="9871"/>
                    <a:pt x="1170485" y="27440"/>
                  </a:cubicBezTo>
                  <a:cubicBezTo>
                    <a:pt x="1188055" y="45010"/>
                    <a:pt x="1197926" y="68840"/>
                    <a:pt x="1197926" y="93687"/>
                  </a:cubicBezTo>
                  <a:lnTo>
                    <a:pt x="1197926" y="719113"/>
                  </a:lnTo>
                  <a:cubicBezTo>
                    <a:pt x="1197926" y="743960"/>
                    <a:pt x="1188055" y="767790"/>
                    <a:pt x="1170485" y="785360"/>
                  </a:cubicBezTo>
                  <a:cubicBezTo>
                    <a:pt x="1152915" y="802929"/>
                    <a:pt x="1129086" y="812800"/>
                    <a:pt x="1104238" y="812800"/>
                  </a:cubicBezTo>
                  <a:lnTo>
                    <a:pt x="93687" y="812800"/>
                  </a:lnTo>
                  <a:cubicBezTo>
                    <a:pt x="68840" y="812800"/>
                    <a:pt x="45010" y="802929"/>
                    <a:pt x="27440" y="785360"/>
                  </a:cubicBezTo>
                  <a:cubicBezTo>
                    <a:pt x="9871" y="767790"/>
                    <a:pt x="0" y="743960"/>
                    <a:pt x="0" y="719113"/>
                  </a:cubicBezTo>
                  <a:lnTo>
                    <a:pt x="0" y="93687"/>
                  </a:lnTo>
                  <a:cubicBezTo>
                    <a:pt x="0" y="68840"/>
                    <a:pt x="9871" y="45010"/>
                    <a:pt x="27440" y="27440"/>
                  </a:cubicBezTo>
                  <a:cubicBezTo>
                    <a:pt x="45010" y="9871"/>
                    <a:pt x="68840" y="0"/>
                    <a:pt x="93687" y="0"/>
                  </a:cubicBezTo>
                  <a:close/>
                </a:path>
              </a:pathLst>
            </a:custGeom>
            <a:blipFill>
              <a:blip r:embed="rId3"/>
              <a:stretch>
                <a:fillRect l="-841" t="0" r="-841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885150"/>
            <a:ext cx="5281956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Marco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15900" y="1885150"/>
            <a:ext cx="4234849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teorico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38225"/>
            <a:ext cx="2274712" cy="24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ADOPTAAMIGO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5360" y="3513432"/>
            <a:ext cx="10826334" cy="68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9"/>
              </a:lnSpc>
            </a:pPr>
            <a:r>
              <a:rPr lang="en-US" sz="22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Estado del arte</a:t>
            </a:r>
          </a:p>
          <a:p>
            <a:pPr algn="just">
              <a:lnSpc>
                <a:spcPts val="2529"/>
              </a:lnSpc>
            </a:pPr>
            <a:r>
              <a:rPr lang="en-US" sz="22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Actualmente, las herramientas digitales permiten desarrollar plataformas que facilitan el acceso y la organización de información. En el caso de la adopción de mascotas, las publicaciones suelen encontrarse en redes sociales, grupos o diferentes páginas, lo que puede dificultar encontrar información completa sobre los animales disponibles.</a:t>
            </a:r>
          </a:p>
          <a:p>
            <a:pPr algn="just">
              <a:lnSpc>
                <a:spcPts val="2529"/>
              </a:lnSpc>
            </a:pPr>
          </a:p>
          <a:p>
            <a:pPr algn="just">
              <a:lnSpc>
                <a:spcPts val="2529"/>
              </a:lnSpc>
            </a:pPr>
          </a:p>
          <a:p>
            <a:pPr algn="just">
              <a:lnSpc>
                <a:spcPts val="2529"/>
              </a:lnSpc>
            </a:pPr>
            <a:r>
              <a:rPr lang="en-US" sz="22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 y GitHub en AdoptaAmigo</a:t>
            </a:r>
          </a:p>
          <a:p>
            <a:pPr algn="just" marL="496566" indent="-248283" lvl="1">
              <a:lnSpc>
                <a:spcPts val="2529"/>
              </a:lnSpc>
              <a:buFont typeface="Arial"/>
              <a:buChar char="•"/>
            </a:pPr>
            <a:r>
              <a:rPr lang="en-US" b="true" sz="2299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Control de versiones: registra y organiza los cambios del proyecto.</a:t>
            </a:r>
          </a:p>
          <a:p>
            <a:pPr algn="just" marL="496566" indent="-248283" lvl="1">
              <a:lnSpc>
                <a:spcPts val="2529"/>
              </a:lnSpc>
              <a:buFont typeface="Arial"/>
              <a:buChar char="•"/>
            </a:pPr>
            <a:r>
              <a:rPr lang="en-US" b="true" sz="2299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Repositorio: almacena el código, archivos y recursos de AdoptaAmigo.</a:t>
            </a:r>
          </a:p>
          <a:p>
            <a:pPr algn="just" marL="496566" indent="-248283" lvl="1">
              <a:lnSpc>
                <a:spcPts val="2529"/>
              </a:lnSpc>
              <a:buFont typeface="Arial"/>
              <a:buChar char="•"/>
            </a:pPr>
            <a:r>
              <a:rPr lang="en-US" b="true" sz="2299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Branches: permiten trabajar en diferentes funcionalidades sin afectar main.</a:t>
            </a:r>
          </a:p>
          <a:p>
            <a:pPr algn="just" marL="496566" indent="-248283" lvl="1">
              <a:lnSpc>
                <a:spcPts val="2529"/>
              </a:lnSpc>
              <a:buFont typeface="Arial"/>
              <a:buChar char="•"/>
            </a:pPr>
            <a:r>
              <a:rPr lang="en-US" b="true" sz="2299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Commits: guardan cada avance realizado con un mensaje descriptivo.</a:t>
            </a:r>
          </a:p>
          <a:p>
            <a:pPr algn="just" marL="496566" indent="-248283" lvl="1">
              <a:lnSpc>
                <a:spcPts val="2529"/>
              </a:lnSpc>
              <a:buFont typeface="Arial"/>
              <a:buChar char="•"/>
            </a:pPr>
            <a:r>
              <a:rPr lang="en-US" b="true" sz="2299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Merge: integra los cambios de diferentes ramas.</a:t>
            </a:r>
          </a:p>
          <a:p>
            <a:pPr algn="just" marL="496566" indent="-248283" lvl="1">
              <a:lnSpc>
                <a:spcPts val="2529"/>
              </a:lnSpc>
              <a:buFont typeface="Arial"/>
              <a:buChar char="•"/>
            </a:pPr>
            <a:r>
              <a:rPr lang="en-US" b="true" sz="2299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Conflictos: aparecen cuando dos integrantes modifican la misma parte; Git permite resolverlos.</a:t>
            </a:r>
          </a:p>
          <a:p>
            <a:pPr algn="just" marL="496566" indent="-248283" lvl="1">
              <a:lnSpc>
                <a:spcPts val="2529"/>
              </a:lnSpc>
              <a:buFont typeface="Arial"/>
              <a:buChar char="•"/>
            </a:pPr>
            <a:r>
              <a:rPr lang="en-US" b="true" sz="2299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 + GitHub: facilitan el control, almacenamiento y trabajo colaborativo.</a:t>
            </a:r>
          </a:p>
          <a:p>
            <a:pPr algn="just">
              <a:lnSpc>
                <a:spcPts val="2529"/>
              </a:lnSpc>
            </a:pPr>
          </a:p>
          <a:p>
            <a:pPr algn="just">
              <a:lnSpc>
                <a:spcPts val="252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014806" y="4553814"/>
            <a:ext cx="9112363" cy="6802458"/>
            <a:chOff x="0" y="0"/>
            <a:chExt cx="2399964" cy="17915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99964" cy="1791594"/>
            </a:xfrm>
            <a:custGeom>
              <a:avLst/>
              <a:gdLst/>
              <a:ahLst/>
              <a:cxnLst/>
              <a:rect r="r" b="b" t="t" l="l"/>
              <a:pathLst>
                <a:path h="1791594" w="2399964">
                  <a:moveTo>
                    <a:pt x="38232" y="0"/>
                  </a:moveTo>
                  <a:lnTo>
                    <a:pt x="2361732" y="0"/>
                  </a:lnTo>
                  <a:cubicBezTo>
                    <a:pt x="2371872" y="0"/>
                    <a:pt x="2381596" y="4028"/>
                    <a:pt x="2388766" y="11198"/>
                  </a:cubicBezTo>
                  <a:cubicBezTo>
                    <a:pt x="2395936" y="18368"/>
                    <a:pt x="2399964" y="28092"/>
                    <a:pt x="2399964" y="38232"/>
                  </a:cubicBezTo>
                  <a:lnTo>
                    <a:pt x="2399964" y="1753362"/>
                  </a:lnTo>
                  <a:cubicBezTo>
                    <a:pt x="2399964" y="1774477"/>
                    <a:pt x="2382847" y="1791594"/>
                    <a:pt x="2361732" y="1791594"/>
                  </a:cubicBezTo>
                  <a:lnTo>
                    <a:pt x="38232" y="1791594"/>
                  </a:lnTo>
                  <a:cubicBezTo>
                    <a:pt x="28092" y="1791594"/>
                    <a:pt x="18368" y="1787566"/>
                    <a:pt x="11198" y="1780396"/>
                  </a:cubicBezTo>
                  <a:cubicBezTo>
                    <a:pt x="4028" y="1773226"/>
                    <a:pt x="0" y="1763501"/>
                    <a:pt x="0" y="1753362"/>
                  </a:cubicBezTo>
                  <a:lnTo>
                    <a:pt x="0" y="38232"/>
                  </a:lnTo>
                  <a:cubicBezTo>
                    <a:pt x="0" y="28092"/>
                    <a:pt x="4028" y="18368"/>
                    <a:pt x="11198" y="11198"/>
                  </a:cubicBezTo>
                  <a:cubicBezTo>
                    <a:pt x="18368" y="4028"/>
                    <a:pt x="28092" y="0"/>
                    <a:pt x="38232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99964" cy="1820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932495"/>
            <a:ext cx="3976671" cy="3267504"/>
            <a:chOff x="0" y="0"/>
            <a:chExt cx="812800" cy="667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67852"/>
            </a:xfrm>
            <a:custGeom>
              <a:avLst/>
              <a:gdLst/>
              <a:ahLst/>
              <a:cxnLst/>
              <a:rect r="r" b="b" t="t" l="l"/>
              <a:pathLst>
                <a:path h="667852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580244"/>
                  </a:lnTo>
                  <a:cubicBezTo>
                    <a:pt x="812800" y="628629"/>
                    <a:pt x="773577" y="667852"/>
                    <a:pt x="725192" y="667852"/>
                  </a:cubicBezTo>
                  <a:lnTo>
                    <a:pt x="87608" y="667852"/>
                  </a:lnTo>
                  <a:cubicBezTo>
                    <a:pt x="39223" y="667852"/>
                    <a:pt x="0" y="628629"/>
                    <a:pt x="0" y="580244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2"/>
              <a:stretch>
                <a:fillRect l="-11569" t="0" r="-11569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603708" y="5791568"/>
            <a:ext cx="3976671" cy="3466732"/>
            <a:chOff x="0" y="0"/>
            <a:chExt cx="812800" cy="7085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08573"/>
            </a:xfrm>
            <a:custGeom>
              <a:avLst/>
              <a:gdLst/>
              <a:ahLst/>
              <a:cxnLst/>
              <a:rect r="r" b="b" t="t" l="l"/>
              <a:pathLst>
                <a:path h="708573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620965"/>
                  </a:lnTo>
                  <a:cubicBezTo>
                    <a:pt x="812800" y="644200"/>
                    <a:pt x="803570" y="666483"/>
                    <a:pt x="787140" y="682913"/>
                  </a:cubicBezTo>
                  <a:cubicBezTo>
                    <a:pt x="770711" y="699343"/>
                    <a:pt x="748427" y="708573"/>
                    <a:pt x="725192" y="708573"/>
                  </a:cubicBezTo>
                  <a:lnTo>
                    <a:pt x="87608" y="708573"/>
                  </a:lnTo>
                  <a:cubicBezTo>
                    <a:pt x="39223" y="708573"/>
                    <a:pt x="0" y="669349"/>
                    <a:pt x="0" y="620965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3"/>
              <a:stretch>
                <a:fillRect l="-15362" t="0" r="-15362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2050461"/>
            <a:ext cx="7497927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Metodologia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038225"/>
            <a:ext cx="2274712" cy="24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ADOPTAAMIGO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541" y="2438667"/>
            <a:ext cx="7336759" cy="722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spc="-24" b="true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Tipo de investigación</a:t>
            </a:r>
          </a:p>
          <a:p>
            <a:pPr algn="l">
              <a:lnSpc>
                <a:spcPts val="2749"/>
              </a:lnSpc>
            </a:pPr>
            <a:r>
              <a:rPr lang="en-US" sz="2499" spc="-24" b="true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Aplicada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Busca solucionar una problemática real.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Se desarrolla la plataforma AdoptaAmigo.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Aplica conocimientos de desarrollo de software.</a:t>
            </a:r>
          </a:p>
          <a:p>
            <a:pPr algn="l">
              <a:lnSpc>
                <a:spcPts val="2749"/>
              </a:lnSpc>
            </a:pPr>
            <a:r>
              <a:rPr lang="en-US" sz="2499" spc="-24" b="true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Técnicas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Observación: identificar necesidades.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Recopilación: definir información de las mascotas.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Pruebas funcionales: verificar el funcionamiento.</a:t>
            </a:r>
          </a:p>
          <a:p>
            <a:pPr algn="l">
              <a:lnSpc>
                <a:spcPts val="2749"/>
              </a:lnSpc>
            </a:pPr>
            <a:r>
              <a:rPr lang="en-US" sz="2499" spc="-24" b="true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Materiales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Computadora e Internet.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Editor de código.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Imágenes e información.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Diseños y archivos del proyecto.</a:t>
            </a:r>
          </a:p>
          <a:p>
            <a:pPr algn="l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 spc="-24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Repositorio colaborativo.</a:t>
            </a:r>
          </a:p>
          <a:p>
            <a:pPr algn="l">
              <a:lnSpc>
                <a:spcPts val="28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4173200" y="3122572"/>
            <a:ext cx="4768122" cy="7997966"/>
            <a:chOff x="0" y="0"/>
            <a:chExt cx="1255802" cy="21064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5802" cy="2106460"/>
            </a:xfrm>
            <a:custGeom>
              <a:avLst/>
              <a:gdLst/>
              <a:ahLst/>
              <a:cxnLst/>
              <a:rect r="r" b="b" t="t" l="l"/>
              <a:pathLst>
                <a:path h="2106460" w="1255802">
                  <a:moveTo>
                    <a:pt x="73066" y="0"/>
                  </a:moveTo>
                  <a:lnTo>
                    <a:pt x="1182736" y="0"/>
                  </a:lnTo>
                  <a:cubicBezTo>
                    <a:pt x="1202114" y="0"/>
                    <a:pt x="1220699" y="7698"/>
                    <a:pt x="1234401" y="21400"/>
                  </a:cubicBezTo>
                  <a:cubicBezTo>
                    <a:pt x="1248104" y="35103"/>
                    <a:pt x="1255802" y="53688"/>
                    <a:pt x="1255802" y="73066"/>
                  </a:cubicBezTo>
                  <a:lnTo>
                    <a:pt x="1255802" y="2033395"/>
                  </a:lnTo>
                  <a:cubicBezTo>
                    <a:pt x="1255802" y="2052773"/>
                    <a:pt x="1248104" y="2071357"/>
                    <a:pt x="1234401" y="2085060"/>
                  </a:cubicBezTo>
                  <a:cubicBezTo>
                    <a:pt x="1220699" y="2098762"/>
                    <a:pt x="1202114" y="2106460"/>
                    <a:pt x="1182736" y="2106460"/>
                  </a:cubicBezTo>
                  <a:lnTo>
                    <a:pt x="73066" y="2106460"/>
                  </a:lnTo>
                  <a:cubicBezTo>
                    <a:pt x="53688" y="2106460"/>
                    <a:pt x="35103" y="2098762"/>
                    <a:pt x="21400" y="2085060"/>
                  </a:cubicBezTo>
                  <a:cubicBezTo>
                    <a:pt x="7698" y="2071357"/>
                    <a:pt x="0" y="2052773"/>
                    <a:pt x="0" y="2033395"/>
                  </a:cubicBezTo>
                  <a:lnTo>
                    <a:pt x="0" y="73066"/>
                  </a:lnTo>
                  <a:cubicBezTo>
                    <a:pt x="0" y="53688"/>
                    <a:pt x="7698" y="35103"/>
                    <a:pt x="21400" y="21400"/>
                  </a:cubicBezTo>
                  <a:cubicBezTo>
                    <a:pt x="35103" y="7698"/>
                    <a:pt x="53688" y="0"/>
                    <a:pt x="73066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55802" cy="2135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40054" y="2100556"/>
            <a:ext cx="3976671" cy="3267504"/>
            <a:chOff x="0" y="0"/>
            <a:chExt cx="812800" cy="667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67852"/>
            </a:xfrm>
            <a:custGeom>
              <a:avLst/>
              <a:gdLst/>
              <a:ahLst/>
              <a:cxnLst/>
              <a:rect r="r" b="b" t="t" l="l"/>
              <a:pathLst>
                <a:path h="667852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580244"/>
                  </a:lnTo>
                  <a:cubicBezTo>
                    <a:pt x="812800" y="628629"/>
                    <a:pt x="773577" y="667852"/>
                    <a:pt x="725192" y="667852"/>
                  </a:cubicBezTo>
                  <a:lnTo>
                    <a:pt x="87608" y="667852"/>
                  </a:lnTo>
                  <a:cubicBezTo>
                    <a:pt x="39223" y="667852"/>
                    <a:pt x="0" y="628629"/>
                    <a:pt x="0" y="580244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2"/>
              <a:stretch>
                <a:fillRect l="-11569" t="0" r="-11569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282629" y="5791568"/>
            <a:ext cx="3976671" cy="3466732"/>
            <a:chOff x="0" y="0"/>
            <a:chExt cx="812800" cy="7085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08573"/>
            </a:xfrm>
            <a:custGeom>
              <a:avLst/>
              <a:gdLst/>
              <a:ahLst/>
              <a:cxnLst/>
              <a:rect r="r" b="b" t="t" l="l"/>
              <a:pathLst>
                <a:path h="708573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620965"/>
                  </a:lnTo>
                  <a:cubicBezTo>
                    <a:pt x="812800" y="644200"/>
                    <a:pt x="803570" y="666483"/>
                    <a:pt x="787140" y="682913"/>
                  </a:cubicBezTo>
                  <a:cubicBezTo>
                    <a:pt x="770711" y="699343"/>
                    <a:pt x="748427" y="708573"/>
                    <a:pt x="725192" y="708573"/>
                  </a:cubicBezTo>
                  <a:lnTo>
                    <a:pt x="87608" y="708573"/>
                  </a:lnTo>
                  <a:cubicBezTo>
                    <a:pt x="39223" y="708573"/>
                    <a:pt x="0" y="669349"/>
                    <a:pt x="0" y="620965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3"/>
              <a:stretch>
                <a:fillRect l="-15300" t="0" r="-15300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038225"/>
            <a:ext cx="2274712" cy="24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ADOPTAAMIGO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497" y="2193975"/>
            <a:ext cx="8442554" cy="667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1"/>
              </a:lnSpc>
            </a:pPr>
            <a:r>
              <a:rPr lang="en-US" sz="2991" spc="-29" b="true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instrumentos y procedimiento</a:t>
            </a:r>
          </a:p>
          <a:p>
            <a:pPr algn="l">
              <a:lnSpc>
                <a:spcPts val="3291"/>
              </a:lnSpc>
            </a:pPr>
            <a:r>
              <a:rPr lang="en-US" sz="2991" spc="-29" b="true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Instrumentos</a:t>
            </a:r>
          </a:p>
          <a:p>
            <a:pPr algn="l" marL="645942" indent="-322971" lvl="1">
              <a:lnSpc>
                <a:spcPts val="3291"/>
              </a:lnSpc>
              <a:buFont typeface="Arial"/>
              <a:buChar char="•"/>
            </a:pPr>
            <a:r>
              <a:rPr lang="en-US" b="true" sz="2991" spc="-29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Ficha de requerimientos</a:t>
            </a:r>
          </a:p>
          <a:p>
            <a:pPr algn="l" marL="645942" indent="-322971" lvl="1">
              <a:lnSpc>
                <a:spcPts val="3291"/>
              </a:lnSpc>
              <a:buFont typeface="Arial"/>
              <a:buChar char="•"/>
            </a:pPr>
            <a:r>
              <a:rPr lang="en-US" b="true" sz="2991" spc="-29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Lista de pruebas</a:t>
            </a:r>
          </a:p>
          <a:p>
            <a:pPr algn="l" marL="645942" indent="-322971" lvl="1">
              <a:lnSpc>
                <a:spcPts val="3291"/>
              </a:lnSpc>
              <a:buFont typeface="Arial"/>
              <a:buChar char="•"/>
            </a:pPr>
            <a:r>
              <a:rPr lang="en-US" b="true" sz="2991" spc="-29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Git y GitHub</a:t>
            </a:r>
          </a:p>
          <a:p>
            <a:pPr algn="l" marL="645942" indent="-322971" lvl="1">
              <a:lnSpc>
                <a:spcPts val="3291"/>
              </a:lnSpc>
              <a:buFont typeface="Arial"/>
              <a:buChar char="•"/>
            </a:pPr>
          </a:p>
          <a:p>
            <a:pPr algn="l">
              <a:lnSpc>
                <a:spcPts val="3291"/>
              </a:lnSpc>
            </a:pPr>
            <a:r>
              <a:rPr lang="en-US" sz="2991" spc="-29" b="true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Sustento</a:t>
            </a:r>
          </a:p>
          <a:p>
            <a:pPr algn="l" marL="645942" indent="-322971" lvl="1">
              <a:lnSpc>
                <a:spcPts val="3291"/>
              </a:lnSpc>
              <a:buFont typeface="Arial"/>
              <a:buChar char="•"/>
            </a:pPr>
            <a:r>
              <a:rPr lang="en-US" b="true" sz="2991" spc="-29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Organiza el desarrollo.</a:t>
            </a:r>
          </a:p>
          <a:p>
            <a:pPr algn="l" marL="645942" indent="-322971" lvl="1">
              <a:lnSpc>
                <a:spcPts val="3291"/>
              </a:lnSpc>
              <a:buFont typeface="Arial"/>
              <a:buChar char="•"/>
            </a:pPr>
            <a:r>
              <a:rPr lang="en-US" b="true" sz="2991" spc="-29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Facilita el trabajo en equipo.</a:t>
            </a:r>
          </a:p>
          <a:p>
            <a:pPr algn="l" marL="645942" indent="-322971" lvl="1">
              <a:lnSpc>
                <a:spcPts val="3291"/>
              </a:lnSpc>
              <a:buFont typeface="Arial"/>
              <a:buChar char="•"/>
            </a:pPr>
            <a:r>
              <a:rPr lang="en-US" b="true" sz="2991" spc="-29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Permite controlar cambios.</a:t>
            </a:r>
          </a:p>
          <a:p>
            <a:pPr algn="l" marL="645942" indent="-322971" lvl="1">
              <a:lnSpc>
                <a:spcPts val="3291"/>
              </a:lnSpc>
              <a:buFont typeface="Arial"/>
              <a:buChar char="•"/>
            </a:pPr>
            <a:r>
              <a:rPr lang="en-US" b="true" sz="2991" spc="-29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Verifica que AdoptaAmigo cumpla sus objetivos.</a:t>
            </a:r>
          </a:p>
          <a:p>
            <a:pPr algn="l">
              <a:lnSpc>
                <a:spcPts val="3291"/>
              </a:lnSpc>
            </a:pPr>
          </a:p>
          <a:p>
            <a:pPr algn="l">
              <a:lnSpc>
                <a:spcPts val="3291"/>
              </a:lnSpc>
            </a:pPr>
            <a:r>
              <a:rPr lang="en-US" sz="2991" spc="-29" b="true">
                <a:solidFill>
                  <a:srgbClr val="6E777B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Resultado: una plataforma funcional y desarrollada colaborativamente.</a:t>
            </a:r>
          </a:p>
          <a:p>
            <a:pPr algn="l">
              <a:lnSpc>
                <a:spcPts val="329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542977" y="661707"/>
            <a:ext cx="2430759" cy="2576450"/>
            <a:chOff x="0" y="0"/>
            <a:chExt cx="905013" cy="9592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43324" y="0"/>
                  </a:moveTo>
                  <a:lnTo>
                    <a:pt x="761689" y="0"/>
                  </a:lnTo>
                  <a:cubicBezTo>
                    <a:pt x="840845" y="0"/>
                    <a:pt x="905013" y="64168"/>
                    <a:pt x="905013" y="143324"/>
                  </a:cubicBezTo>
                  <a:lnTo>
                    <a:pt x="905013" y="815932"/>
                  </a:lnTo>
                  <a:cubicBezTo>
                    <a:pt x="905013" y="895088"/>
                    <a:pt x="840845" y="959256"/>
                    <a:pt x="761689" y="959256"/>
                  </a:cubicBezTo>
                  <a:lnTo>
                    <a:pt x="143324" y="959256"/>
                  </a:lnTo>
                  <a:cubicBezTo>
                    <a:pt x="64168" y="959256"/>
                    <a:pt x="0" y="895088"/>
                    <a:pt x="0" y="815932"/>
                  </a:cubicBezTo>
                  <a:lnTo>
                    <a:pt x="0" y="143324"/>
                  </a:lnTo>
                  <a:cubicBezTo>
                    <a:pt x="0" y="64168"/>
                    <a:pt x="64168" y="0"/>
                    <a:pt x="14332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566" r="0" b="-8566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1035799" y="7517780"/>
            <a:ext cx="18960372" cy="3830779"/>
            <a:chOff x="0" y="0"/>
            <a:chExt cx="4993678" cy="1008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93678" cy="1008929"/>
            </a:xfrm>
            <a:custGeom>
              <a:avLst/>
              <a:gdLst/>
              <a:ahLst/>
              <a:cxnLst/>
              <a:rect r="r" b="b" t="t" l="l"/>
              <a:pathLst>
                <a:path h="1008929" w="4993678">
                  <a:moveTo>
                    <a:pt x="18374" y="0"/>
                  </a:moveTo>
                  <a:lnTo>
                    <a:pt x="4975304" y="0"/>
                  </a:lnTo>
                  <a:cubicBezTo>
                    <a:pt x="4985452" y="0"/>
                    <a:pt x="4993678" y="8227"/>
                    <a:pt x="4993678" y="18374"/>
                  </a:cubicBezTo>
                  <a:lnTo>
                    <a:pt x="4993678" y="990555"/>
                  </a:lnTo>
                  <a:cubicBezTo>
                    <a:pt x="4993678" y="1000703"/>
                    <a:pt x="4985452" y="1008929"/>
                    <a:pt x="4975304" y="1008929"/>
                  </a:cubicBezTo>
                  <a:lnTo>
                    <a:pt x="18374" y="1008929"/>
                  </a:lnTo>
                  <a:cubicBezTo>
                    <a:pt x="8227" y="1008929"/>
                    <a:pt x="0" y="1000703"/>
                    <a:pt x="0" y="990555"/>
                  </a:cubicBezTo>
                  <a:lnTo>
                    <a:pt x="0" y="18374"/>
                  </a:lnTo>
                  <a:cubicBezTo>
                    <a:pt x="0" y="8227"/>
                    <a:pt x="8227" y="0"/>
                    <a:pt x="18374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993678" cy="1037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92731" y="8727550"/>
            <a:ext cx="215194" cy="21519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11356" y="8727550"/>
            <a:ext cx="215194" cy="2151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74106" y="8727550"/>
            <a:ext cx="215194" cy="21519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58356" y="8727550"/>
            <a:ext cx="215194" cy="21519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839938" y="7091010"/>
            <a:ext cx="1836837" cy="2342159"/>
            <a:chOff x="0" y="0"/>
            <a:chExt cx="559755" cy="7137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9755" cy="713746"/>
            </a:xfrm>
            <a:custGeom>
              <a:avLst/>
              <a:gdLst/>
              <a:ahLst/>
              <a:cxnLst/>
              <a:rect r="r" b="b" t="t" l="l"/>
              <a:pathLst>
                <a:path h="713746" w="559755">
                  <a:moveTo>
                    <a:pt x="189667" y="0"/>
                  </a:moveTo>
                  <a:lnTo>
                    <a:pt x="370088" y="0"/>
                  </a:lnTo>
                  <a:cubicBezTo>
                    <a:pt x="474838" y="0"/>
                    <a:pt x="559755" y="84917"/>
                    <a:pt x="559755" y="189667"/>
                  </a:cubicBezTo>
                  <a:lnTo>
                    <a:pt x="559755" y="524080"/>
                  </a:lnTo>
                  <a:cubicBezTo>
                    <a:pt x="559755" y="574382"/>
                    <a:pt x="539772" y="622625"/>
                    <a:pt x="504203" y="658194"/>
                  </a:cubicBezTo>
                  <a:cubicBezTo>
                    <a:pt x="468633" y="693764"/>
                    <a:pt x="420391" y="713746"/>
                    <a:pt x="370088" y="713746"/>
                  </a:cubicBezTo>
                  <a:lnTo>
                    <a:pt x="189667" y="713746"/>
                  </a:lnTo>
                  <a:cubicBezTo>
                    <a:pt x="139364" y="713746"/>
                    <a:pt x="91121" y="693764"/>
                    <a:pt x="55552" y="658194"/>
                  </a:cubicBezTo>
                  <a:cubicBezTo>
                    <a:pt x="19983" y="622625"/>
                    <a:pt x="0" y="574382"/>
                    <a:pt x="0" y="524080"/>
                  </a:cubicBezTo>
                  <a:lnTo>
                    <a:pt x="0" y="189667"/>
                  </a:lnTo>
                  <a:cubicBezTo>
                    <a:pt x="0" y="139364"/>
                    <a:pt x="19983" y="91121"/>
                    <a:pt x="55552" y="55552"/>
                  </a:cubicBezTo>
                  <a:cubicBezTo>
                    <a:pt x="91121" y="19983"/>
                    <a:pt x="139364" y="0"/>
                    <a:pt x="189667" y="0"/>
                  </a:cubicBezTo>
                  <a:close/>
                </a:path>
              </a:pathLst>
            </a:custGeom>
            <a:blipFill>
              <a:blip r:embed="rId3"/>
              <a:stretch>
                <a:fillRect l="-45545" t="-11486" r="-67495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AutoShape 22" id="22"/>
          <p:cNvSpPr/>
          <p:nvPr/>
        </p:nvSpPr>
        <p:spPr>
          <a:xfrm>
            <a:off x="10357342" y="4498878"/>
            <a:ext cx="1225879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23" id="23"/>
          <p:cNvGraphicFramePr/>
          <p:nvPr/>
        </p:nvGraphicFramePr>
        <p:xfrm>
          <a:off x="189196" y="1992527"/>
          <a:ext cx="13201650" cy="7752969"/>
        </p:xfrm>
        <a:graphic>
          <a:graphicData uri="http://schemas.openxmlformats.org/presentationml/2006/ole">
            <p:oleObj imgW="15836900" imgH="103886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1028700" y="198157"/>
            <a:ext cx="7415687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Cronograma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479864" y="4348531"/>
            <a:ext cx="19247728" cy="1846041"/>
            <a:chOff x="0" y="0"/>
            <a:chExt cx="5069360" cy="48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69360" cy="486200"/>
            </a:xfrm>
            <a:custGeom>
              <a:avLst/>
              <a:gdLst/>
              <a:ahLst/>
              <a:cxnLst/>
              <a:rect r="r" b="b" t="t" l="l"/>
              <a:pathLst>
                <a:path h="486200" w="5069360">
                  <a:moveTo>
                    <a:pt x="18100" y="0"/>
                  </a:moveTo>
                  <a:lnTo>
                    <a:pt x="5051260" y="0"/>
                  </a:lnTo>
                  <a:cubicBezTo>
                    <a:pt x="5056061" y="0"/>
                    <a:pt x="5060664" y="1907"/>
                    <a:pt x="5064059" y="5301"/>
                  </a:cubicBezTo>
                  <a:cubicBezTo>
                    <a:pt x="5067453" y="8696"/>
                    <a:pt x="5069360" y="13300"/>
                    <a:pt x="5069360" y="18100"/>
                  </a:cubicBezTo>
                  <a:lnTo>
                    <a:pt x="5069360" y="468100"/>
                  </a:lnTo>
                  <a:cubicBezTo>
                    <a:pt x="5069360" y="478096"/>
                    <a:pt x="5061257" y="486200"/>
                    <a:pt x="5051260" y="486200"/>
                  </a:cubicBezTo>
                  <a:lnTo>
                    <a:pt x="18100" y="486200"/>
                  </a:lnTo>
                  <a:cubicBezTo>
                    <a:pt x="8104" y="486200"/>
                    <a:pt x="0" y="478096"/>
                    <a:pt x="0" y="468100"/>
                  </a:cubicBezTo>
                  <a:lnTo>
                    <a:pt x="0" y="18100"/>
                  </a:lnTo>
                  <a:cubicBezTo>
                    <a:pt x="0" y="8104"/>
                    <a:pt x="8104" y="0"/>
                    <a:pt x="18100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069360" cy="514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243431"/>
            <a:ext cx="6480176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Desarrollo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07124" y="2243431"/>
            <a:ext cx="8947504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del proyecto </a:t>
            </a:r>
          </a:p>
        </p:txBody>
      </p:sp>
      <p:sp>
        <p:nvSpPr>
          <p:cNvPr name="AutoShape 8" id="8"/>
          <p:cNvSpPr/>
          <p:nvPr/>
        </p:nvSpPr>
        <p:spPr>
          <a:xfrm>
            <a:off x="1191022" y="7545387"/>
            <a:ext cx="16068278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1038225"/>
            <a:ext cx="2274712" cy="24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ADOPTAAMIGO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26441" y="1038225"/>
            <a:ext cx="732859" cy="22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9"/>
              </a:lnSpc>
            </a:pPr>
            <a:r>
              <a:rPr lang="en-US" sz="1599">
                <a:solidFill>
                  <a:srgbClr val="6E77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782688"/>
            <a:ext cx="2809345" cy="2977726"/>
            <a:chOff x="0" y="0"/>
            <a:chExt cx="905013" cy="9592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24010" y="0"/>
                  </a:moveTo>
                  <a:lnTo>
                    <a:pt x="781003" y="0"/>
                  </a:lnTo>
                  <a:cubicBezTo>
                    <a:pt x="813893" y="0"/>
                    <a:pt x="845435" y="13065"/>
                    <a:pt x="868692" y="36322"/>
                  </a:cubicBezTo>
                  <a:cubicBezTo>
                    <a:pt x="891948" y="59578"/>
                    <a:pt x="905013" y="91120"/>
                    <a:pt x="905013" y="124010"/>
                  </a:cubicBezTo>
                  <a:lnTo>
                    <a:pt x="905013" y="835246"/>
                  </a:lnTo>
                  <a:cubicBezTo>
                    <a:pt x="905013" y="903735"/>
                    <a:pt x="849492" y="959256"/>
                    <a:pt x="781003" y="959256"/>
                  </a:cubicBezTo>
                  <a:lnTo>
                    <a:pt x="124010" y="959256"/>
                  </a:lnTo>
                  <a:cubicBezTo>
                    <a:pt x="91120" y="959256"/>
                    <a:pt x="59578" y="946191"/>
                    <a:pt x="36322" y="922935"/>
                  </a:cubicBezTo>
                  <a:cubicBezTo>
                    <a:pt x="13065" y="899678"/>
                    <a:pt x="0" y="868136"/>
                    <a:pt x="0" y="835246"/>
                  </a:cubicBezTo>
                  <a:lnTo>
                    <a:pt x="0" y="124010"/>
                  </a:lnTo>
                  <a:cubicBezTo>
                    <a:pt x="0" y="55521"/>
                    <a:pt x="55521" y="0"/>
                    <a:pt x="1240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0803" r="0" b="-20803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957901" y="8346523"/>
            <a:ext cx="10626441" cy="160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3"/>
              </a:lnSpc>
            </a:pPr>
            <a:r>
              <a:rPr lang="en-US" sz="2176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 proyecto AdoptaAmigo consiste en el desarrollo de una plataforma digital orientada a facilitar la adopción responsable de animales abandonados. La solución permitirá que los usuarios puedan consultar animales disponibles para adopción y conocer información relevante sobre ellos.</a:t>
            </a:r>
          </a:p>
          <a:p>
            <a:pPr algn="l">
              <a:lnSpc>
                <a:spcPts val="2393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5502452" y="3782688"/>
            <a:ext cx="2809345" cy="2977726"/>
            <a:chOff x="0" y="0"/>
            <a:chExt cx="905013" cy="9592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24010" y="0"/>
                  </a:moveTo>
                  <a:lnTo>
                    <a:pt x="781003" y="0"/>
                  </a:lnTo>
                  <a:cubicBezTo>
                    <a:pt x="813893" y="0"/>
                    <a:pt x="845435" y="13065"/>
                    <a:pt x="868692" y="36322"/>
                  </a:cubicBezTo>
                  <a:cubicBezTo>
                    <a:pt x="891948" y="59578"/>
                    <a:pt x="905013" y="91120"/>
                    <a:pt x="905013" y="124010"/>
                  </a:cubicBezTo>
                  <a:lnTo>
                    <a:pt x="905013" y="835246"/>
                  </a:lnTo>
                  <a:cubicBezTo>
                    <a:pt x="905013" y="903735"/>
                    <a:pt x="849492" y="959256"/>
                    <a:pt x="781003" y="959256"/>
                  </a:cubicBezTo>
                  <a:lnTo>
                    <a:pt x="124010" y="959256"/>
                  </a:lnTo>
                  <a:cubicBezTo>
                    <a:pt x="91120" y="959256"/>
                    <a:pt x="59578" y="946191"/>
                    <a:pt x="36322" y="922935"/>
                  </a:cubicBezTo>
                  <a:cubicBezTo>
                    <a:pt x="13065" y="899678"/>
                    <a:pt x="0" y="868136"/>
                    <a:pt x="0" y="835246"/>
                  </a:cubicBezTo>
                  <a:lnTo>
                    <a:pt x="0" y="124010"/>
                  </a:lnTo>
                  <a:cubicBezTo>
                    <a:pt x="0" y="55521"/>
                    <a:pt x="55521" y="0"/>
                    <a:pt x="124010" y="0"/>
                  </a:cubicBezTo>
                  <a:close/>
                </a:path>
              </a:pathLst>
            </a:custGeom>
            <a:blipFill>
              <a:blip r:embed="rId3"/>
              <a:stretch>
                <a:fillRect l="-34817" t="0" r="-24028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976204" y="3782688"/>
            <a:ext cx="2809345" cy="2977726"/>
            <a:chOff x="0" y="0"/>
            <a:chExt cx="905013" cy="9592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24010" y="0"/>
                  </a:moveTo>
                  <a:lnTo>
                    <a:pt x="781003" y="0"/>
                  </a:lnTo>
                  <a:cubicBezTo>
                    <a:pt x="813893" y="0"/>
                    <a:pt x="845435" y="13065"/>
                    <a:pt x="868692" y="36322"/>
                  </a:cubicBezTo>
                  <a:cubicBezTo>
                    <a:pt x="891948" y="59578"/>
                    <a:pt x="905013" y="91120"/>
                    <a:pt x="905013" y="124010"/>
                  </a:cubicBezTo>
                  <a:lnTo>
                    <a:pt x="905013" y="835246"/>
                  </a:lnTo>
                  <a:cubicBezTo>
                    <a:pt x="905013" y="903735"/>
                    <a:pt x="849492" y="959256"/>
                    <a:pt x="781003" y="959256"/>
                  </a:cubicBezTo>
                  <a:lnTo>
                    <a:pt x="124010" y="959256"/>
                  </a:lnTo>
                  <a:cubicBezTo>
                    <a:pt x="91120" y="959256"/>
                    <a:pt x="59578" y="946191"/>
                    <a:pt x="36322" y="922935"/>
                  </a:cubicBezTo>
                  <a:cubicBezTo>
                    <a:pt x="13065" y="899678"/>
                    <a:pt x="0" y="868136"/>
                    <a:pt x="0" y="835246"/>
                  </a:cubicBezTo>
                  <a:lnTo>
                    <a:pt x="0" y="124010"/>
                  </a:lnTo>
                  <a:cubicBezTo>
                    <a:pt x="0" y="55521"/>
                    <a:pt x="55521" y="0"/>
                    <a:pt x="12401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566" r="0" b="-8566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449955" y="3782688"/>
            <a:ext cx="2809345" cy="2977726"/>
            <a:chOff x="0" y="0"/>
            <a:chExt cx="905013" cy="9592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24010" y="0"/>
                  </a:moveTo>
                  <a:lnTo>
                    <a:pt x="781003" y="0"/>
                  </a:lnTo>
                  <a:cubicBezTo>
                    <a:pt x="813893" y="0"/>
                    <a:pt x="845435" y="13065"/>
                    <a:pt x="868692" y="36322"/>
                  </a:cubicBezTo>
                  <a:cubicBezTo>
                    <a:pt x="891948" y="59578"/>
                    <a:pt x="905013" y="91120"/>
                    <a:pt x="905013" y="124010"/>
                  </a:cubicBezTo>
                  <a:lnTo>
                    <a:pt x="905013" y="835246"/>
                  </a:lnTo>
                  <a:cubicBezTo>
                    <a:pt x="905013" y="903735"/>
                    <a:pt x="849492" y="959256"/>
                    <a:pt x="781003" y="959256"/>
                  </a:cubicBezTo>
                  <a:lnTo>
                    <a:pt x="124010" y="959256"/>
                  </a:lnTo>
                  <a:cubicBezTo>
                    <a:pt x="91120" y="959256"/>
                    <a:pt x="59578" y="946191"/>
                    <a:pt x="36322" y="922935"/>
                  </a:cubicBezTo>
                  <a:cubicBezTo>
                    <a:pt x="13065" y="899678"/>
                    <a:pt x="0" y="868136"/>
                    <a:pt x="0" y="835246"/>
                  </a:cubicBezTo>
                  <a:lnTo>
                    <a:pt x="0" y="124010"/>
                  </a:lnTo>
                  <a:cubicBezTo>
                    <a:pt x="0" y="55521"/>
                    <a:pt x="55521" y="0"/>
                    <a:pt x="12401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867" r="0" b="-10867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7411001"/>
            <a:ext cx="268772" cy="2687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02452" y="7411001"/>
            <a:ext cx="268772" cy="26877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76204" y="7411001"/>
            <a:ext cx="268772" cy="26877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49955" y="7411001"/>
            <a:ext cx="268772" cy="26877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9313" y="1171575"/>
            <a:ext cx="14382258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Prototipo del Aplicativo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9313" y="4299980"/>
            <a:ext cx="16208035" cy="33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300" spc="-63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Figma:</a:t>
            </a:r>
          </a:p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https://www.figma.com/design/z0ilMgPQ0FoV9lcuKkYebr/AdoptaAmigo?node-id=6-447&amp;t=TGE9mop9EpeUJmvk-1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5509">
            <a:off x="-2222413" y="8168201"/>
            <a:ext cx="5264096" cy="4237597"/>
          </a:xfrm>
          <a:custGeom>
            <a:avLst/>
            <a:gdLst/>
            <a:ahLst/>
            <a:cxnLst/>
            <a:rect r="r" b="b" t="t" l="l"/>
            <a:pathLst>
              <a:path h="4237597" w="5264096">
                <a:moveTo>
                  <a:pt x="0" y="0"/>
                </a:moveTo>
                <a:lnTo>
                  <a:pt x="5264096" y="0"/>
                </a:lnTo>
                <a:lnTo>
                  <a:pt x="5264096" y="4237598"/>
                </a:lnTo>
                <a:lnTo>
                  <a:pt x="0" y="423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4614" y="-810875"/>
            <a:ext cx="3008496" cy="2421840"/>
          </a:xfrm>
          <a:custGeom>
            <a:avLst/>
            <a:gdLst/>
            <a:ahLst/>
            <a:cxnLst/>
            <a:rect r="r" b="b" t="t" l="l"/>
            <a:pathLst>
              <a:path h="2421840" w="3008496">
                <a:moveTo>
                  <a:pt x="0" y="0"/>
                </a:moveTo>
                <a:lnTo>
                  <a:pt x="3008497" y="0"/>
                </a:lnTo>
                <a:lnTo>
                  <a:pt x="3008497" y="2421840"/>
                </a:lnTo>
                <a:lnTo>
                  <a:pt x="0" y="2421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04335" y="8325409"/>
            <a:ext cx="4186773" cy="3370352"/>
          </a:xfrm>
          <a:custGeom>
            <a:avLst/>
            <a:gdLst/>
            <a:ahLst/>
            <a:cxnLst/>
            <a:rect r="r" b="b" t="t" l="l"/>
            <a:pathLst>
              <a:path h="3370352" w="4186773">
                <a:moveTo>
                  <a:pt x="0" y="0"/>
                </a:moveTo>
                <a:lnTo>
                  <a:pt x="4186773" y="0"/>
                </a:lnTo>
                <a:lnTo>
                  <a:pt x="4186773" y="3370352"/>
                </a:lnTo>
                <a:lnTo>
                  <a:pt x="0" y="337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33788" y="2562994"/>
            <a:ext cx="679401" cy="638637"/>
          </a:xfrm>
          <a:custGeom>
            <a:avLst/>
            <a:gdLst/>
            <a:ahLst/>
            <a:cxnLst/>
            <a:rect r="r" b="b" t="t" l="l"/>
            <a:pathLst>
              <a:path h="638637" w="679401">
                <a:moveTo>
                  <a:pt x="0" y="0"/>
                </a:moveTo>
                <a:lnTo>
                  <a:pt x="679402" y="0"/>
                </a:lnTo>
                <a:lnTo>
                  <a:pt x="679402" y="638638"/>
                </a:lnTo>
                <a:lnTo>
                  <a:pt x="0" y="638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181100" y="16314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911410" y="-810875"/>
            <a:ext cx="4732940" cy="3810017"/>
          </a:xfrm>
          <a:custGeom>
            <a:avLst/>
            <a:gdLst/>
            <a:ahLst/>
            <a:cxnLst/>
            <a:rect r="r" b="b" t="t" l="l"/>
            <a:pathLst>
              <a:path h="3810017" w="4732940">
                <a:moveTo>
                  <a:pt x="0" y="0"/>
                </a:moveTo>
                <a:lnTo>
                  <a:pt x="4732940" y="0"/>
                </a:lnTo>
                <a:lnTo>
                  <a:pt x="4732940" y="3810017"/>
                </a:lnTo>
                <a:lnTo>
                  <a:pt x="0" y="381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75779" y="864272"/>
            <a:ext cx="14588282" cy="384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60"/>
              </a:lnSpc>
            </a:pPr>
            <a:r>
              <a:rPr lang="en-US" sz="22400" b="true">
                <a:solidFill>
                  <a:srgbClr val="000000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Muchas 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24132" y="2171352"/>
            <a:ext cx="10776903" cy="10776903"/>
          </a:xfrm>
          <a:custGeom>
            <a:avLst/>
            <a:gdLst/>
            <a:ahLst/>
            <a:cxnLst/>
            <a:rect r="r" b="b" t="t" l="l"/>
            <a:pathLst>
              <a:path h="10776903" w="10776903">
                <a:moveTo>
                  <a:pt x="0" y="0"/>
                </a:moveTo>
                <a:lnTo>
                  <a:pt x="10776903" y="0"/>
                </a:lnTo>
                <a:lnTo>
                  <a:pt x="10776903" y="10776903"/>
                </a:lnTo>
                <a:lnTo>
                  <a:pt x="0" y="10776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51065" y="3842377"/>
            <a:ext cx="453151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000000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DAHVH2gxJIE</dc:identifier>
  <dcterms:modified xsi:type="dcterms:W3CDTF">2011-08-01T06:04:30Z</dcterms:modified>
  <cp:revision>1</cp:revision>
  <dc:title>Orange Black and White Modern Dogs Presentation</dc:title>
</cp:coreProperties>
</file>
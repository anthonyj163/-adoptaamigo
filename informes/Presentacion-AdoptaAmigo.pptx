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Anantason UltraExpanded Bold" charset="1" panose="00000000000000000000"/>
      <p:regular r:id="rId18"/>
    </p:embeddedFont>
    <p:embeddedFont>
      <p:font typeface="Helvetica World Bold" charset="1" panose="020B0800040000020004"/>
      <p:regular r:id="rId19"/>
    </p:embeddedFont>
    <p:embeddedFont>
      <p:font typeface="Anantason UltraExpanded" charset="1" panose="00000000000000000000"/>
      <p:regular r:id="rId20"/>
    </p:embeddedFont>
    <p:embeddedFont>
      <p:font typeface="Helvetica World" charset="1" panose="020B05000400000200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Relationship Id="rId3" Target="../media/image10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jpeg" Type="http://schemas.openxmlformats.org/officeDocument/2006/relationships/image"/><Relationship Id="rId3" Target="../media/image12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jpeg" Type="http://schemas.openxmlformats.org/officeDocument/2006/relationships/image"/><Relationship Id="rId3" Target="../media/image14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jpeg" Type="http://schemas.openxmlformats.org/officeDocument/2006/relationships/image"/><Relationship Id="rId3" Target="../media/image16.jpeg" Type="http://schemas.openxmlformats.org/officeDocument/2006/relationships/image"/><Relationship Id="rId4" Target="../media/image17.png" Type="http://schemas.openxmlformats.org/officeDocument/2006/relationships/image"/><Relationship Id="rId5" Target="../embeddings/oleObject1.bin" Type="http://schemas.openxmlformats.org/officeDocument/2006/relationships/oleObjec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jpeg" Type="http://schemas.openxmlformats.org/officeDocument/2006/relationships/image"/><Relationship Id="rId3" Target="../media/image19.jpeg" Type="http://schemas.openxmlformats.org/officeDocument/2006/relationships/image"/><Relationship Id="rId4" Target="../media/image15.jpeg" Type="http://schemas.openxmlformats.org/officeDocument/2006/relationships/image"/><Relationship Id="rId5" Target="../media/image20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2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84898" y="799976"/>
            <a:ext cx="16918203" cy="4678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256"/>
              </a:lnSpc>
              <a:spcBef>
                <a:spcPct val="0"/>
              </a:spcBef>
            </a:pPr>
            <a:r>
              <a:rPr lang="en-US" b="true" sz="27325" spc="-1912">
                <a:solidFill>
                  <a:srgbClr val="283237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ADOPTA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3557983" y="3908597"/>
            <a:ext cx="10623928" cy="7610476"/>
          </a:xfrm>
          <a:custGeom>
            <a:avLst/>
            <a:gdLst/>
            <a:ahLst/>
            <a:cxnLst/>
            <a:rect r="r" b="b" t="t" l="l"/>
            <a:pathLst>
              <a:path h="7610476" w="10623928">
                <a:moveTo>
                  <a:pt x="0" y="0"/>
                </a:moveTo>
                <a:lnTo>
                  <a:pt x="10623929" y="0"/>
                </a:lnTo>
                <a:lnTo>
                  <a:pt x="10623929" y="7610477"/>
                </a:lnTo>
                <a:lnTo>
                  <a:pt x="0" y="76104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084" r="0" b="-50048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931251">
            <a:off x="7579738" y="2674041"/>
            <a:ext cx="1164428" cy="1098797"/>
          </a:xfrm>
          <a:custGeom>
            <a:avLst/>
            <a:gdLst/>
            <a:ahLst/>
            <a:cxnLst/>
            <a:rect r="r" b="b" t="t" l="l"/>
            <a:pathLst>
              <a:path h="1098797" w="1164428">
                <a:moveTo>
                  <a:pt x="0" y="0"/>
                </a:moveTo>
                <a:lnTo>
                  <a:pt x="1164428" y="0"/>
                </a:lnTo>
                <a:lnTo>
                  <a:pt x="1164428" y="1098797"/>
                </a:lnTo>
                <a:lnTo>
                  <a:pt x="0" y="10987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9024742"/>
            <a:ext cx="1731977" cy="231140"/>
            <a:chOff x="0" y="0"/>
            <a:chExt cx="2309302" cy="3081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34745"/>
              <a:ext cx="239722" cy="241921"/>
            </a:xfrm>
            <a:custGeom>
              <a:avLst/>
              <a:gdLst/>
              <a:ahLst/>
              <a:cxnLst/>
              <a:rect r="r" b="b" t="t" l="l"/>
              <a:pathLst>
                <a:path h="241921" w="239722">
                  <a:moveTo>
                    <a:pt x="0" y="0"/>
                  </a:moveTo>
                  <a:lnTo>
                    <a:pt x="239722" y="0"/>
                  </a:lnTo>
                  <a:lnTo>
                    <a:pt x="239722" y="241921"/>
                  </a:lnTo>
                  <a:lnTo>
                    <a:pt x="0" y="241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342687" y="-28575"/>
              <a:ext cx="1966615" cy="3367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60"/>
                </a:lnSpc>
                <a:spcBef>
                  <a:spcPct val="0"/>
                </a:spcBef>
              </a:pPr>
              <a:r>
                <a:rPr lang="en-US" b="true" sz="1400" spc="-28">
                  <a:solidFill>
                    <a:srgbClr val="283237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UTP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692306" y="7223682"/>
            <a:ext cx="4149524" cy="2436041"/>
            <a:chOff x="0" y="0"/>
            <a:chExt cx="1092879" cy="64159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2879" cy="641591"/>
            </a:xfrm>
            <a:custGeom>
              <a:avLst/>
              <a:gdLst/>
              <a:ahLst/>
              <a:cxnLst/>
              <a:rect r="r" b="b" t="t" l="l"/>
              <a:pathLst>
                <a:path h="641591" w="1092879">
                  <a:moveTo>
                    <a:pt x="83958" y="0"/>
                  </a:moveTo>
                  <a:lnTo>
                    <a:pt x="1008921" y="0"/>
                  </a:lnTo>
                  <a:cubicBezTo>
                    <a:pt x="1031188" y="0"/>
                    <a:pt x="1052543" y="8846"/>
                    <a:pt x="1068288" y="24591"/>
                  </a:cubicBezTo>
                  <a:cubicBezTo>
                    <a:pt x="1084033" y="40336"/>
                    <a:pt x="1092879" y="61691"/>
                    <a:pt x="1092879" y="83958"/>
                  </a:cubicBezTo>
                  <a:lnTo>
                    <a:pt x="1092879" y="557633"/>
                  </a:lnTo>
                  <a:cubicBezTo>
                    <a:pt x="1092879" y="579900"/>
                    <a:pt x="1084033" y="601255"/>
                    <a:pt x="1068288" y="617000"/>
                  </a:cubicBezTo>
                  <a:cubicBezTo>
                    <a:pt x="1052543" y="632745"/>
                    <a:pt x="1031188" y="641591"/>
                    <a:pt x="1008921" y="641591"/>
                  </a:cubicBezTo>
                  <a:lnTo>
                    <a:pt x="83958" y="641591"/>
                  </a:lnTo>
                  <a:cubicBezTo>
                    <a:pt x="61691" y="641591"/>
                    <a:pt x="40336" y="632745"/>
                    <a:pt x="24591" y="617000"/>
                  </a:cubicBezTo>
                  <a:cubicBezTo>
                    <a:pt x="8846" y="601255"/>
                    <a:pt x="0" y="579900"/>
                    <a:pt x="0" y="557633"/>
                  </a:cubicBezTo>
                  <a:lnTo>
                    <a:pt x="0" y="83958"/>
                  </a:lnTo>
                  <a:cubicBezTo>
                    <a:pt x="0" y="61691"/>
                    <a:pt x="8846" y="40336"/>
                    <a:pt x="24591" y="24591"/>
                  </a:cubicBezTo>
                  <a:cubicBezTo>
                    <a:pt x="40336" y="8846"/>
                    <a:pt x="61691" y="0"/>
                    <a:pt x="83958" y="0"/>
                  </a:cubicBezTo>
                  <a:close/>
                </a:path>
              </a:pathLst>
            </a:custGeom>
            <a:solidFill>
              <a:srgbClr val="EDEDED"/>
            </a:solidFill>
            <a:ln w="9525" cap="rnd">
              <a:solidFill>
                <a:srgbClr val="EE6703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092879" cy="6796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323850" indent="-161925" lvl="1">
                <a:lnSpc>
                  <a:spcPts val="2100"/>
                </a:lnSpc>
                <a:buFont typeface="Arial"/>
                <a:buChar char="•"/>
              </a:pPr>
              <a:r>
                <a:rPr lang="en-US" b="true" sz="1500" spc="-30">
                  <a:solidFill>
                    <a:srgbClr val="00000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ROBELO ZUMARI, EDISON</a:t>
              </a:r>
            </a:p>
            <a:p>
              <a:pPr algn="l" marL="323850" indent="-161925" lvl="1">
                <a:lnSpc>
                  <a:spcPts val="2100"/>
                </a:lnSpc>
                <a:buFont typeface="Arial"/>
                <a:buChar char="•"/>
              </a:pPr>
              <a:r>
                <a:rPr lang="en-US" b="true" sz="1500" spc="-30">
                  <a:solidFill>
                    <a:srgbClr val="00000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Luna Ramos Anthony Jamir</a:t>
              </a:r>
            </a:p>
            <a:p>
              <a:pPr algn="l" marL="323850" indent="-161925" lvl="1">
                <a:lnSpc>
                  <a:spcPts val="2100"/>
                </a:lnSpc>
                <a:buFont typeface="Arial"/>
                <a:buChar char="•"/>
              </a:pPr>
              <a:r>
                <a:rPr lang="en-US" b="true" sz="1500" spc="-30">
                  <a:solidFill>
                    <a:srgbClr val="00000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Peralta Zarate, Kiara Vanessa</a:t>
              </a:r>
            </a:p>
            <a:p>
              <a:pPr algn="l" marL="323850" indent="-161925" lvl="1">
                <a:lnSpc>
                  <a:spcPts val="2100"/>
                </a:lnSpc>
                <a:buFont typeface="Arial"/>
                <a:buChar char="•"/>
              </a:pPr>
              <a:r>
                <a:rPr lang="en-US" b="true" sz="1500" spc="-30">
                  <a:solidFill>
                    <a:srgbClr val="00000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RAMÍREZ CASTRO, EDU</a:t>
              </a:r>
            </a:p>
            <a:p>
              <a:pPr algn="l">
                <a:lnSpc>
                  <a:spcPts val="2100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028700" y="5306558"/>
            <a:ext cx="2252753" cy="1722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2100" spc="-21" b="true">
                <a:solidFill>
                  <a:srgbClr val="283237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Sistema web de Animales abandonados y dificultad para encontrar hogar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282114" y="4457775"/>
            <a:ext cx="16918203" cy="122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983"/>
              </a:lnSpc>
              <a:spcBef>
                <a:spcPct val="0"/>
              </a:spcBef>
            </a:pPr>
            <a:r>
              <a:rPr lang="en-US" b="true" sz="7130" spc="-499">
                <a:solidFill>
                  <a:srgbClr val="283237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AMIGO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479095"/>
            <a:ext cx="16230600" cy="0"/>
          </a:xfrm>
          <a:prstGeom prst="line">
            <a:avLst/>
          </a:prstGeom>
          <a:ln cap="flat" w="9525">
            <a:solidFill>
              <a:srgbClr val="868E92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-627528" y="2372019"/>
            <a:ext cx="6622110" cy="8382224"/>
            <a:chOff x="0" y="0"/>
            <a:chExt cx="1744095" cy="220766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44095" cy="2207664"/>
            </a:xfrm>
            <a:custGeom>
              <a:avLst/>
              <a:gdLst/>
              <a:ahLst/>
              <a:cxnLst/>
              <a:rect r="r" b="b" t="t" l="l"/>
              <a:pathLst>
                <a:path h="2207664" w="1744095">
                  <a:moveTo>
                    <a:pt x="52610" y="0"/>
                  </a:moveTo>
                  <a:lnTo>
                    <a:pt x="1691485" y="0"/>
                  </a:lnTo>
                  <a:cubicBezTo>
                    <a:pt x="1705438" y="0"/>
                    <a:pt x="1718820" y="5543"/>
                    <a:pt x="1728686" y="15409"/>
                  </a:cubicBezTo>
                  <a:cubicBezTo>
                    <a:pt x="1738552" y="25275"/>
                    <a:pt x="1744095" y="38657"/>
                    <a:pt x="1744095" y="52610"/>
                  </a:cubicBezTo>
                  <a:lnTo>
                    <a:pt x="1744095" y="2155055"/>
                  </a:lnTo>
                  <a:cubicBezTo>
                    <a:pt x="1744095" y="2169008"/>
                    <a:pt x="1738552" y="2182389"/>
                    <a:pt x="1728686" y="2192255"/>
                  </a:cubicBezTo>
                  <a:cubicBezTo>
                    <a:pt x="1718820" y="2202121"/>
                    <a:pt x="1705438" y="2207664"/>
                    <a:pt x="1691485" y="2207664"/>
                  </a:cubicBezTo>
                  <a:lnTo>
                    <a:pt x="52610" y="2207664"/>
                  </a:lnTo>
                  <a:cubicBezTo>
                    <a:pt x="23554" y="2207664"/>
                    <a:pt x="0" y="2184110"/>
                    <a:pt x="0" y="2155055"/>
                  </a:cubicBezTo>
                  <a:lnTo>
                    <a:pt x="0" y="52610"/>
                  </a:lnTo>
                  <a:cubicBezTo>
                    <a:pt x="0" y="38657"/>
                    <a:pt x="5543" y="25275"/>
                    <a:pt x="15409" y="15409"/>
                  </a:cubicBezTo>
                  <a:cubicBezTo>
                    <a:pt x="25275" y="5543"/>
                    <a:pt x="38657" y="0"/>
                    <a:pt x="52610" y="0"/>
                  </a:cubicBezTo>
                  <a:close/>
                </a:path>
              </a:pathLst>
            </a:custGeom>
            <a:solidFill>
              <a:srgbClr val="EDEDED"/>
            </a:solidFill>
            <a:ln w="9525" cap="rnd">
              <a:solidFill>
                <a:srgbClr val="EE6703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1744095" cy="22362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9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6719167" y="2243431"/>
            <a:ext cx="8667101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EE6703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Problematica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719167" y="3363110"/>
            <a:ext cx="10840495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283237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actual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1047750"/>
            <a:ext cx="2274712" cy="239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9"/>
              </a:lnSpc>
            </a:pPr>
            <a:r>
              <a:rPr lang="en-US" sz="1599" b="true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UTP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28700" y="2100556"/>
            <a:ext cx="4715580" cy="7157744"/>
            <a:chOff x="0" y="0"/>
            <a:chExt cx="631966" cy="95925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31966" cy="959256"/>
            </a:xfrm>
            <a:custGeom>
              <a:avLst/>
              <a:gdLst/>
              <a:ahLst/>
              <a:cxnLst/>
              <a:rect r="r" b="b" t="t" l="l"/>
              <a:pathLst>
                <a:path h="959256" w="631966">
                  <a:moveTo>
                    <a:pt x="73880" y="0"/>
                  </a:moveTo>
                  <a:lnTo>
                    <a:pt x="558086" y="0"/>
                  </a:lnTo>
                  <a:cubicBezTo>
                    <a:pt x="577680" y="0"/>
                    <a:pt x="596472" y="7784"/>
                    <a:pt x="610327" y="21639"/>
                  </a:cubicBezTo>
                  <a:cubicBezTo>
                    <a:pt x="624182" y="35494"/>
                    <a:pt x="631966" y="54286"/>
                    <a:pt x="631966" y="73880"/>
                  </a:cubicBezTo>
                  <a:lnTo>
                    <a:pt x="631966" y="885376"/>
                  </a:lnTo>
                  <a:cubicBezTo>
                    <a:pt x="631966" y="904971"/>
                    <a:pt x="624182" y="923762"/>
                    <a:pt x="610327" y="937617"/>
                  </a:cubicBezTo>
                  <a:cubicBezTo>
                    <a:pt x="596472" y="951473"/>
                    <a:pt x="577680" y="959256"/>
                    <a:pt x="558086" y="959256"/>
                  </a:cubicBezTo>
                  <a:lnTo>
                    <a:pt x="73880" y="959256"/>
                  </a:lnTo>
                  <a:cubicBezTo>
                    <a:pt x="54286" y="959256"/>
                    <a:pt x="35494" y="951473"/>
                    <a:pt x="21639" y="937617"/>
                  </a:cubicBezTo>
                  <a:cubicBezTo>
                    <a:pt x="7784" y="923762"/>
                    <a:pt x="0" y="904971"/>
                    <a:pt x="0" y="885376"/>
                  </a:cubicBezTo>
                  <a:lnTo>
                    <a:pt x="0" y="73880"/>
                  </a:lnTo>
                  <a:cubicBezTo>
                    <a:pt x="0" y="54286"/>
                    <a:pt x="7784" y="35494"/>
                    <a:pt x="21639" y="21639"/>
                  </a:cubicBezTo>
                  <a:cubicBezTo>
                    <a:pt x="35494" y="7784"/>
                    <a:pt x="54286" y="0"/>
                    <a:pt x="73880" y="0"/>
                  </a:cubicBezTo>
                  <a:close/>
                </a:path>
              </a:pathLst>
            </a:custGeom>
            <a:blipFill>
              <a:blip r:embed="rId2"/>
              <a:stretch>
                <a:fillRect l="-6989" t="0" r="-6989" b="0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6719167" y="4694190"/>
            <a:ext cx="9604328" cy="3013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49"/>
              </a:lnSpc>
            </a:pPr>
            <a:r>
              <a:rPr lang="en-US" sz="2499" b="true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En el Perú, el abandono de animales representa una problemática que afecta a numerosos perros y gatos que terminan viviendo en las calles o bajo el cuidado temporal de refugios y rescatistas. Estos animales pueden encontrarse en situaciones de vulnerabilidad y requieren atención, cuidados y, principalmente, encontrar un hogar donde puedan recibir una vida adecuada.</a:t>
            </a:r>
          </a:p>
          <a:p>
            <a:pPr algn="just">
              <a:lnSpc>
                <a:spcPts val="2749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479095"/>
            <a:ext cx="16230600" cy="0"/>
          </a:xfrm>
          <a:prstGeom prst="line">
            <a:avLst/>
          </a:prstGeom>
          <a:ln cap="flat" w="9525">
            <a:solidFill>
              <a:srgbClr val="868E92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12982091" y="2706963"/>
            <a:ext cx="5847556" cy="3245848"/>
            <a:chOff x="0" y="0"/>
            <a:chExt cx="1540097" cy="85487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540097" cy="854874"/>
            </a:xfrm>
            <a:custGeom>
              <a:avLst/>
              <a:gdLst/>
              <a:ahLst/>
              <a:cxnLst/>
              <a:rect r="r" b="b" t="t" l="l"/>
              <a:pathLst>
                <a:path h="854874" w="1540097">
                  <a:moveTo>
                    <a:pt x="59578" y="0"/>
                  </a:moveTo>
                  <a:lnTo>
                    <a:pt x="1480519" y="0"/>
                  </a:lnTo>
                  <a:cubicBezTo>
                    <a:pt x="1513423" y="0"/>
                    <a:pt x="1540097" y="26674"/>
                    <a:pt x="1540097" y="59578"/>
                  </a:cubicBezTo>
                  <a:lnTo>
                    <a:pt x="1540097" y="795295"/>
                  </a:lnTo>
                  <a:cubicBezTo>
                    <a:pt x="1540097" y="828200"/>
                    <a:pt x="1513423" y="854874"/>
                    <a:pt x="1480519" y="854874"/>
                  </a:cubicBezTo>
                  <a:lnTo>
                    <a:pt x="59578" y="854874"/>
                  </a:lnTo>
                  <a:cubicBezTo>
                    <a:pt x="26674" y="854874"/>
                    <a:pt x="0" y="828200"/>
                    <a:pt x="0" y="795295"/>
                  </a:cubicBezTo>
                  <a:lnTo>
                    <a:pt x="0" y="59578"/>
                  </a:lnTo>
                  <a:cubicBezTo>
                    <a:pt x="0" y="26674"/>
                    <a:pt x="26674" y="0"/>
                    <a:pt x="59578" y="0"/>
                  </a:cubicBezTo>
                  <a:close/>
                </a:path>
              </a:pathLst>
            </a:custGeom>
            <a:solidFill>
              <a:srgbClr val="EDEDED"/>
            </a:solidFill>
            <a:ln w="9525" cap="rnd">
              <a:solidFill>
                <a:srgbClr val="EE6703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1540097" cy="8834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-791511" y="8862954"/>
            <a:ext cx="3668388" cy="2018270"/>
            <a:chOff x="0" y="0"/>
            <a:chExt cx="966160" cy="53156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66160" cy="531561"/>
            </a:xfrm>
            <a:custGeom>
              <a:avLst/>
              <a:gdLst/>
              <a:ahLst/>
              <a:cxnLst/>
              <a:rect r="r" b="b" t="t" l="l"/>
              <a:pathLst>
                <a:path h="531561" w="966160">
                  <a:moveTo>
                    <a:pt x="94970" y="0"/>
                  </a:moveTo>
                  <a:lnTo>
                    <a:pt x="871190" y="0"/>
                  </a:lnTo>
                  <a:cubicBezTo>
                    <a:pt x="923640" y="0"/>
                    <a:pt x="966160" y="42519"/>
                    <a:pt x="966160" y="94970"/>
                  </a:cubicBezTo>
                  <a:lnTo>
                    <a:pt x="966160" y="436591"/>
                  </a:lnTo>
                  <a:cubicBezTo>
                    <a:pt x="966160" y="489041"/>
                    <a:pt x="923640" y="531561"/>
                    <a:pt x="871190" y="531561"/>
                  </a:cubicBezTo>
                  <a:lnTo>
                    <a:pt x="94970" y="531561"/>
                  </a:lnTo>
                  <a:cubicBezTo>
                    <a:pt x="42519" y="531561"/>
                    <a:pt x="0" y="489041"/>
                    <a:pt x="0" y="436591"/>
                  </a:cubicBezTo>
                  <a:lnTo>
                    <a:pt x="0" y="94970"/>
                  </a:lnTo>
                  <a:cubicBezTo>
                    <a:pt x="0" y="42519"/>
                    <a:pt x="42519" y="0"/>
                    <a:pt x="94970" y="0"/>
                  </a:cubicBezTo>
                  <a:close/>
                </a:path>
              </a:pathLst>
            </a:custGeom>
            <a:solidFill>
              <a:srgbClr val="EDEDED"/>
            </a:solidFill>
            <a:ln w="9525" cap="rnd">
              <a:solidFill>
                <a:srgbClr val="EE6703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966160" cy="5601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282629" y="2100556"/>
            <a:ext cx="3976671" cy="4469659"/>
            <a:chOff x="0" y="0"/>
            <a:chExt cx="812800" cy="91356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913563"/>
            </a:xfrm>
            <a:custGeom>
              <a:avLst/>
              <a:gdLst/>
              <a:ahLst/>
              <a:cxnLst/>
              <a:rect r="r" b="b" t="t" l="l"/>
              <a:pathLst>
                <a:path h="913563" w="812800">
                  <a:moveTo>
                    <a:pt x="87608" y="0"/>
                  </a:moveTo>
                  <a:lnTo>
                    <a:pt x="725192" y="0"/>
                  </a:lnTo>
                  <a:cubicBezTo>
                    <a:pt x="773577" y="0"/>
                    <a:pt x="812800" y="39223"/>
                    <a:pt x="812800" y="87608"/>
                  </a:cubicBezTo>
                  <a:lnTo>
                    <a:pt x="812800" y="825955"/>
                  </a:lnTo>
                  <a:cubicBezTo>
                    <a:pt x="812800" y="874340"/>
                    <a:pt x="773577" y="913563"/>
                    <a:pt x="725192" y="913563"/>
                  </a:cubicBezTo>
                  <a:lnTo>
                    <a:pt x="87608" y="913563"/>
                  </a:lnTo>
                  <a:cubicBezTo>
                    <a:pt x="39223" y="913563"/>
                    <a:pt x="0" y="874340"/>
                    <a:pt x="0" y="825955"/>
                  </a:cubicBezTo>
                  <a:lnTo>
                    <a:pt x="0" y="87608"/>
                  </a:lnTo>
                  <a:cubicBezTo>
                    <a:pt x="0" y="39223"/>
                    <a:pt x="39223" y="0"/>
                    <a:pt x="87608" y="0"/>
                  </a:cubicBezTo>
                  <a:close/>
                </a:path>
              </a:pathLst>
            </a:custGeom>
            <a:blipFill>
              <a:blip r:embed="rId2"/>
              <a:stretch>
                <a:fillRect l="-1829" t="-15434" r="0" b="-5509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028700" y="2243431"/>
            <a:ext cx="11355812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283237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Justificación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3265447"/>
            <a:ext cx="9707286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EE6703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del proyecto</a:t>
            </a:r>
          </a:p>
        </p:txBody>
      </p:sp>
      <p:sp>
        <p:nvSpPr>
          <p:cNvPr name="AutoShape 13" id="13"/>
          <p:cNvSpPr/>
          <p:nvPr/>
        </p:nvSpPr>
        <p:spPr>
          <a:xfrm>
            <a:off x="1028700" y="4891774"/>
            <a:ext cx="11355812" cy="0"/>
          </a:xfrm>
          <a:prstGeom prst="line">
            <a:avLst/>
          </a:prstGeom>
          <a:ln cap="flat" w="9525">
            <a:solidFill>
              <a:srgbClr val="868E9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4" id="14"/>
          <p:cNvSpPr txBox="true"/>
          <p:nvPr/>
        </p:nvSpPr>
        <p:spPr>
          <a:xfrm rot="0">
            <a:off x="1028700" y="1047750"/>
            <a:ext cx="2274712" cy="239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9"/>
              </a:lnSpc>
            </a:pPr>
            <a:r>
              <a:rPr lang="en-US" sz="1599" b="true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ADOPTAAMIGO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8700" y="5477561"/>
            <a:ext cx="11760496" cy="3285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78"/>
              </a:lnSpc>
            </a:pPr>
            <a:r>
              <a:rPr lang="en-US" sz="2980" spc="-29">
                <a:solidFill>
                  <a:srgbClr val="EE6703"/>
                </a:solidFill>
                <a:latin typeface="Anantason UltraExpanded"/>
                <a:ea typeface="Anantason UltraExpanded"/>
                <a:cs typeface="Anantason UltraExpanded"/>
                <a:sym typeface="Anantason UltraExpanded"/>
              </a:rPr>
              <a:t>La implementación de una plataforma web permitirá publicar y consultar animales disponibles para adopción, mostrando información relevante sobre sus características, necesidades y condiciones de adopción. De esta manera, las personas interesadas podrán encontrar información de una forma más organizada y acceder a los datos necesarios para conocer al animal antes de iniciar un proceso de adopción.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479095"/>
            <a:ext cx="16230600" cy="0"/>
          </a:xfrm>
          <a:prstGeom prst="line">
            <a:avLst/>
          </a:prstGeom>
          <a:ln cap="flat" w="9525">
            <a:solidFill>
              <a:srgbClr val="868E9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28700" y="2243431"/>
            <a:ext cx="65289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EE6703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Objetivo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5599134" y="2100556"/>
            <a:ext cx="4768122" cy="9019983"/>
            <a:chOff x="0" y="0"/>
            <a:chExt cx="1255802" cy="237563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55802" cy="2375633"/>
            </a:xfrm>
            <a:custGeom>
              <a:avLst/>
              <a:gdLst/>
              <a:ahLst/>
              <a:cxnLst/>
              <a:rect r="r" b="b" t="t" l="l"/>
              <a:pathLst>
                <a:path h="2375633" w="1255802">
                  <a:moveTo>
                    <a:pt x="73066" y="0"/>
                  </a:moveTo>
                  <a:lnTo>
                    <a:pt x="1182736" y="0"/>
                  </a:lnTo>
                  <a:cubicBezTo>
                    <a:pt x="1202114" y="0"/>
                    <a:pt x="1220699" y="7698"/>
                    <a:pt x="1234401" y="21400"/>
                  </a:cubicBezTo>
                  <a:cubicBezTo>
                    <a:pt x="1248104" y="35103"/>
                    <a:pt x="1255802" y="53688"/>
                    <a:pt x="1255802" y="73066"/>
                  </a:cubicBezTo>
                  <a:lnTo>
                    <a:pt x="1255802" y="2302568"/>
                  </a:lnTo>
                  <a:cubicBezTo>
                    <a:pt x="1255802" y="2321946"/>
                    <a:pt x="1248104" y="2340530"/>
                    <a:pt x="1234401" y="2354233"/>
                  </a:cubicBezTo>
                  <a:cubicBezTo>
                    <a:pt x="1220699" y="2367935"/>
                    <a:pt x="1202114" y="2375633"/>
                    <a:pt x="1182736" y="2375633"/>
                  </a:cubicBezTo>
                  <a:lnTo>
                    <a:pt x="73066" y="2375633"/>
                  </a:lnTo>
                  <a:cubicBezTo>
                    <a:pt x="53688" y="2375633"/>
                    <a:pt x="35103" y="2367935"/>
                    <a:pt x="21400" y="2354233"/>
                  </a:cubicBezTo>
                  <a:cubicBezTo>
                    <a:pt x="7698" y="2340530"/>
                    <a:pt x="0" y="2321946"/>
                    <a:pt x="0" y="2302568"/>
                  </a:cubicBezTo>
                  <a:lnTo>
                    <a:pt x="0" y="73066"/>
                  </a:lnTo>
                  <a:cubicBezTo>
                    <a:pt x="0" y="53688"/>
                    <a:pt x="7698" y="35103"/>
                    <a:pt x="21400" y="21400"/>
                  </a:cubicBezTo>
                  <a:cubicBezTo>
                    <a:pt x="35103" y="7698"/>
                    <a:pt x="53688" y="0"/>
                    <a:pt x="73066" y="0"/>
                  </a:cubicBezTo>
                  <a:close/>
                </a:path>
              </a:pathLst>
            </a:custGeom>
            <a:solidFill>
              <a:srgbClr val="EDEDED"/>
            </a:solidFill>
            <a:ln w="9525" cap="rnd">
              <a:solidFill>
                <a:srgbClr val="EE6703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1255802" cy="24042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9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-807679" y="4748309"/>
            <a:ext cx="4768122" cy="6372230"/>
            <a:chOff x="0" y="0"/>
            <a:chExt cx="1255802" cy="167828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55802" cy="1678283"/>
            </a:xfrm>
            <a:custGeom>
              <a:avLst/>
              <a:gdLst/>
              <a:ahLst/>
              <a:cxnLst/>
              <a:rect r="r" b="b" t="t" l="l"/>
              <a:pathLst>
                <a:path h="1678283" w="1255802">
                  <a:moveTo>
                    <a:pt x="73066" y="0"/>
                  </a:moveTo>
                  <a:lnTo>
                    <a:pt x="1182736" y="0"/>
                  </a:lnTo>
                  <a:cubicBezTo>
                    <a:pt x="1202114" y="0"/>
                    <a:pt x="1220699" y="7698"/>
                    <a:pt x="1234401" y="21400"/>
                  </a:cubicBezTo>
                  <a:cubicBezTo>
                    <a:pt x="1248104" y="35103"/>
                    <a:pt x="1255802" y="53688"/>
                    <a:pt x="1255802" y="73066"/>
                  </a:cubicBezTo>
                  <a:lnTo>
                    <a:pt x="1255802" y="1605217"/>
                  </a:lnTo>
                  <a:cubicBezTo>
                    <a:pt x="1255802" y="1624595"/>
                    <a:pt x="1248104" y="1643180"/>
                    <a:pt x="1234401" y="1656882"/>
                  </a:cubicBezTo>
                  <a:cubicBezTo>
                    <a:pt x="1220699" y="1670585"/>
                    <a:pt x="1202114" y="1678283"/>
                    <a:pt x="1182736" y="1678283"/>
                  </a:cubicBezTo>
                  <a:lnTo>
                    <a:pt x="73066" y="1678283"/>
                  </a:lnTo>
                  <a:cubicBezTo>
                    <a:pt x="53688" y="1678283"/>
                    <a:pt x="35103" y="1670585"/>
                    <a:pt x="21400" y="1656882"/>
                  </a:cubicBezTo>
                  <a:cubicBezTo>
                    <a:pt x="7698" y="1643180"/>
                    <a:pt x="0" y="1624595"/>
                    <a:pt x="0" y="1605217"/>
                  </a:cubicBezTo>
                  <a:lnTo>
                    <a:pt x="0" y="73066"/>
                  </a:lnTo>
                  <a:cubicBezTo>
                    <a:pt x="0" y="53688"/>
                    <a:pt x="7698" y="35103"/>
                    <a:pt x="21400" y="21400"/>
                  </a:cubicBezTo>
                  <a:cubicBezTo>
                    <a:pt x="35103" y="7698"/>
                    <a:pt x="53688" y="0"/>
                    <a:pt x="73066" y="0"/>
                  </a:cubicBezTo>
                  <a:close/>
                </a:path>
              </a:pathLst>
            </a:custGeom>
            <a:solidFill>
              <a:srgbClr val="EDEDED"/>
            </a:solidFill>
            <a:ln w="9525" cap="rnd">
              <a:solidFill>
                <a:srgbClr val="EE6703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255802" cy="17068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9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5934131" y="2252919"/>
            <a:ext cx="8444385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283237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del proyecto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1047750"/>
            <a:ext cx="2931743" cy="239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9"/>
              </a:lnSpc>
            </a:pPr>
            <a:r>
              <a:rPr lang="en-US" sz="1599" b="true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ADOPTAAMIGO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28700" y="3932495"/>
            <a:ext cx="4715580" cy="5325805"/>
            <a:chOff x="0" y="0"/>
            <a:chExt cx="631966" cy="71374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1966" cy="713746"/>
            </a:xfrm>
            <a:custGeom>
              <a:avLst/>
              <a:gdLst/>
              <a:ahLst/>
              <a:cxnLst/>
              <a:rect r="r" b="b" t="t" l="l"/>
              <a:pathLst>
                <a:path h="713746" w="631966">
                  <a:moveTo>
                    <a:pt x="73880" y="0"/>
                  </a:moveTo>
                  <a:lnTo>
                    <a:pt x="558086" y="0"/>
                  </a:lnTo>
                  <a:cubicBezTo>
                    <a:pt x="577680" y="0"/>
                    <a:pt x="596472" y="7784"/>
                    <a:pt x="610327" y="21639"/>
                  </a:cubicBezTo>
                  <a:cubicBezTo>
                    <a:pt x="624182" y="35494"/>
                    <a:pt x="631966" y="54286"/>
                    <a:pt x="631966" y="73880"/>
                  </a:cubicBezTo>
                  <a:lnTo>
                    <a:pt x="631966" y="639866"/>
                  </a:lnTo>
                  <a:cubicBezTo>
                    <a:pt x="631966" y="659460"/>
                    <a:pt x="624182" y="678252"/>
                    <a:pt x="610327" y="692107"/>
                  </a:cubicBezTo>
                  <a:cubicBezTo>
                    <a:pt x="596472" y="705962"/>
                    <a:pt x="577680" y="713746"/>
                    <a:pt x="558086" y="713746"/>
                  </a:cubicBezTo>
                  <a:lnTo>
                    <a:pt x="73880" y="713746"/>
                  </a:lnTo>
                  <a:cubicBezTo>
                    <a:pt x="54286" y="713746"/>
                    <a:pt x="35494" y="705962"/>
                    <a:pt x="21639" y="692107"/>
                  </a:cubicBezTo>
                  <a:cubicBezTo>
                    <a:pt x="7784" y="678252"/>
                    <a:pt x="0" y="659460"/>
                    <a:pt x="0" y="639866"/>
                  </a:cubicBezTo>
                  <a:lnTo>
                    <a:pt x="0" y="73880"/>
                  </a:lnTo>
                  <a:cubicBezTo>
                    <a:pt x="0" y="54286"/>
                    <a:pt x="7784" y="35494"/>
                    <a:pt x="21639" y="21639"/>
                  </a:cubicBezTo>
                  <a:cubicBezTo>
                    <a:pt x="35494" y="7784"/>
                    <a:pt x="54286" y="0"/>
                    <a:pt x="7388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20772" r="0" b="-11919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5744280" y="3932495"/>
            <a:ext cx="10727129" cy="5842365"/>
            <a:chOff x="0" y="0"/>
            <a:chExt cx="2825252" cy="153873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825252" cy="1538730"/>
            </a:xfrm>
            <a:custGeom>
              <a:avLst/>
              <a:gdLst/>
              <a:ahLst/>
              <a:cxnLst/>
              <a:rect r="r" b="b" t="t" l="l"/>
              <a:pathLst>
                <a:path h="1538730" w="2825252">
                  <a:moveTo>
                    <a:pt x="32477" y="0"/>
                  </a:moveTo>
                  <a:lnTo>
                    <a:pt x="2792775" y="0"/>
                  </a:lnTo>
                  <a:cubicBezTo>
                    <a:pt x="2810712" y="0"/>
                    <a:pt x="2825252" y="14541"/>
                    <a:pt x="2825252" y="32477"/>
                  </a:cubicBezTo>
                  <a:lnTo>
                    <a:pt x="2825252" y="1506253"/>
                  </a:lnTo>
                  <a:cubicBezTo>
                    <a:pt x="2825252" y="1524189"/>
                    <a:pt x="2810712" y="1538730"/>
                    <a:pt x="2792775" y="1538730"/>
                  </a:cubicBezTo>
                  <a:lnTo>
                    <a:pt x="32477" y="1538730"/>
                  </a:lnTo>
                  <a:cubicBezTo>
                    <a:pt x="14541" y="1538730"/>
                    <a:pt x="0" y="1524189"/>
                    <a:pt x="0" y="1506253"/>
                  </a:cubicBezTo>
                  <a:lnTo>
                    <a:pt x="0" y="32477"/>
                  </a:lnTo>
                  <a:cubicBezTo>
                    <a:pt x="0" y="14541"/>
                    <a:pt x="14541" y="0"/>
                    <a:pt x="32477" y="0"/>
                  </a:cubicBezTo>
                  <a:close/>
                </a:path>
              </a:pathLst>
            </a:custGeom>
            <a:solidFill>
              <a:srgbClr val="FFFEFE"/>
            </a:solidFill>
            <a:ln w="9525" cap="rnd">
              <a:solidFill>
                <a:srgbClr val="EE6703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2825252" cy="156730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9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6050512" y="4189670"/>
            <a:ext cx="10146120" cy="54896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7"/>
              </a:lnSpc>
            </a:pPr>
          </a:p>
          <a:p>
            <a:pPr algn="just">
              <a:lnSpc>
                <a:spcPts val="2757"/>
              </a:lnSpc>
            </a:pPr>
            <a:r>
              <a:rPr lang="en-US" sz="2506">
                <a:solidFill>
                  <a:srgbClr val="6E777B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OBJETIVO GENERAL</a:t>
            </a:r>
          </a:p>
          <a:p>
            <a:pPr algn="just">
              <a:lnSpc>
                <a:spcPts val="2757"/>
              </a:lnSpc>
            </a:pPr>
            <a:r>
              <a:rPr lang="en-US" sz="2506">
                <a:solidFill>
                  <a:srgbClr val="6E777B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Desarrollar una plataforma web denominada “AdoptaAmigo” que permita publicar y consultar información de animales abandonados disponibles para adopción, facilitando el contacto entre posibles adoptantes y las personas o organizaciones encargadas de su cuidado en el Perú.</a:t>
            </a:r>
          </a:p>
          <a:p>
            <a:pPr algn="just">
              <a:lnSpc>
                <a:spcPts val="2757"/>
              </a:lnSpc>
            </a:pPr>
          </a:p>
          <a:p>
            <a:pPr algn="just">
              <a:lnSpc>
                <a:spcPts val="2757"/>
              </a:lnSpc>
            </a:pPr>
          </a:p>
          <a:p>
            <a:pPr algn="just">
              <a:lnSpc>
                <a:spcPts val="2757"/>
              </a:lnSpc>
            </a:pPr>
            <a:r>
              <a:rPr lang="en-US" sz="2506">
                <a:solidFill>
                  <a:srgbClr val="6E777B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OBJETIVOS ESPECIFICOS</a:t>
            </a:r>
          </a:p>
          <a:p>
            <a:pPr algn="just" marL="541255" indent="-270628" lvl="1">
              <a:lnSpc>
                <a:spcPts val="2757"/>
              </a:lnSpc>
              <a:buFont typeface="Arial"/>
              <a:buChar char="•"/>
            </a:pPr>
            <a:r>
              <a:rPr lang="en-US" sz="2506">
                <a:solidFill>
                  <a:srgbClr val="6E777B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Permitir el regist</a:t>
            </a:r>
            <a:r>
              <a:rPr lang="en-US" sz="2506">
                <a:solidFill>
                  <a:srgbClr val="6E777B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ro y publicación de animales disponibles para adopción.</a:t>
            </a:r>
          </a:p>
          <a:p>
            <a:pPr algn="just" marL="541255" indent="-270628" lvl="1">
              <a:lnSpc>
                <a:spcPts val="2757"/>
              </a:lnSpc>
              <a:buFont typeface="Arial"/>
              <a:buChar char="•"/>
            </a:pPr>
            <a:r>
              <a:rPr lang="en-US" sz="2506">
                <a:solidFill>
                  <a:srgbClr val="6E777B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Mostrar información relevante sobre las características, necesidades y condiciones de adopción de cada animal.</a:t>
            </a:r>
          </a:p>
          <a:p>
            <a:pPr algn="just" marL="541255" indent="-270628" lvl="1">
              <a:lnSpc>
                <a:spcPts val="2757"/>
              </a:lnSpc>
              <a:buFont typeface="Arial"/>
              <a:buChar char="•"/>
            </a:pPr>
            <a:r>
              <a:rPr lang="en-US" sz="2506">
                <a:solidFill>
                  <a:srgbClr val="6E777B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Facilitar la búsqueda y consulta de animales disponibles mediante una plataforma organizada y accesible.</a:t>
            </a:r>
          </a:p>
          <a:p>
            <a:pPr algn="just">
              <a:lnSpc>
                <a:spcPts val="2757"/>
              </a:lnSpc>
            </a:pPr>
          </a:p>
        </p:txBody>
      </p:sp>
      <p:grpSp>
        <p:nvGrpSpPr>
          <p:cNvPr name="Group 18" id="18"/>
          <p:cNvGrpSpPr/>
          <p:nvPr/>
        </p:nvGrpSpPr>
        <p:grpSpPr>
          <a:xfrm rot="0">
            <a:off x="16551634" y="4386639"/>
            <a:ext cx="230457" cy="215194"/>
            <a:chOff x="0" y="0"/>
            <a:chExt cx="870452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70452" cy="812800"/>
            </a:xfrm>
            <a:custGeom>
              <a:avLst/>
              <a:gdLst/>
              <a:ahLst/>
              <a:cxnLst/>
              <a:rect r="r" b="b" t="t" l="l"/>
              <a:pathLst>
                <a:path h="812800" w="870452">
                  <a:moveTo>
                    <a:pt x="435226" y="0"/>
                  </a:moveTo>
                  <a:cubicBezTo>
                    <a:pt x="194857" y="0"/>
                    <a:pt x="0" y="181951"/>
                    <a:pt x="0" y="406400"/>
                  </a:cubicBezTo>
                  <a:cubicBezTo>
                    <a:pt x="0" y="630849"/>
                    <a:pt x="194857" y="812800"/>
                    <a:pt x="435226" y="812800"/>
                  </a:cubicBezTo>
                  <a:cubicBezTo>
                    <a:pt x="675594" y="812800"/>
                    <a:pt x="870452" y="630849"/>
                    <a:pt x="870452" y="406400"/>
                  </a:cubicBezTo>
                  <a:cubicBezTo>
                    <a:pt x="870452" y="181951"/>
                    <a:pt x="675594" y="0"/>
                    <a:pt x="435226" y="0"/>
                  </a:cubicBezTo>
                  <a:close/>
                </a:path>
              </a:pathLst>
            </a:custGeom>
            <a:solidFill>
              <a:srgbClr val="EE6703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81605" y="47625"/>
              <a:ext cx="707242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479095"/>
            <a:ext cx="16230600" cy="0"/>
          </a:xfrm>
          <a:prstGeom prst="line">
            <a:avLst/>
          </a:prstGeom>
          <a:ln cap="flat" w="9525">
            <a:solidFill>
              <a:srgbClr val="868E92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11652548" y="2891949"/>
            <a:ext cx="7630606" cy="8228590"/>
            <a:chOff x="0" y="0"/>
            <a:chExt cx="2009707" cy="216720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09707" cy="2167201"/>
            </a:xfrm>
            <a:custGeom>
              <a:avLst/>
              <a:gdLst/>
              <a:ahLst/>
              <a:cxnLst/>
              <a:rect r="r" b="b" t="t" l="l"/>
              <a:pathLst>
                <a:path h="2167201" w="2009707">
                  <a:moveTo>
                    <a:pt x="45656" y="0"/>
                  </a:moveTo>
                  <a:lnTo>
                    <a:pt x="1964050" y="0"/>
                  </a:lnTo>
                  <a:cubicBezTo>
                    <a:pt x="1976159" y="0"/>
                    <a:pt x="1987772" y="4810"/>
                    <a:pt x="1996335" y="13372"/>
                  </a:cubicBezTo>
                  <a:cubicBezTo>
                    <a:pt x="2004897" y="21935"/>
                    <a:pt x="2009707" y="33548"/>
                    <a:pt x="2009707" y="45656"/>
                  </a:cubicBezTo>
                  <a:lnTo>
                    <a:pt x="2009707" y="2121544"/>
                  </a:lnTo>
                  <a:cubicBezTo>
                    <a:pt x="2009707" y="2133653"/>
                    <a:pt x="2004897" y="2145266"/>
                    <a:pt x="1996335" y="2153828"/>
                  </a:cubicBezTo>
                  <a:cubicBezTo>
                    <a:pt x="1987772" y="2162390"/>
                    <a:pt x="1976159" y="2167201"/>
                    <a:pt x="1964050" y="2167201"/>
                  </a:cubicBezTo>
                  <a:lnTo>
                    <a:pt x="45656" y="2167201"/>
                  </a:lnTo>
                  <a:cubicBezTo>
                    <a:pt x="33548" y="2167201"/>
                    <a:pt x="21935" y="2162390"/>
                    <a:pt x="13372" y="2153828"/>
                  </a:cubicBezTo>
                  <a:cubicBezTo>
                    <a:pt x="4810" y="2145266"/>
                    <a:pt x="0" y="2133653"/>
                    <a:pt x="0" y="2121544"/>
                  </a:cubicBezTo>
                  <a:lnTo>
                    <a:pt x="0" y="45656"/>
                  </a:lnTo>
                  <a:cubicBezTo>
                    <a:pt x="0" y="33548"/>
                    <a:pt x="4810" y="21935"/>
                    <a:pt x="13372" y="13372"/>
                  </a:cubicBezTo>
                  <a:cubicBezTo>
                    <a:pt x="21935" y="4810"/>
                    <a:pt x="33548" y="0"/>
                    <a:pt x="45656" y="0"/>
                  </a:cubicBezTo>
                  <a:close/>
                </a:path>
              </a:pathLst>
            </a:custGeom>
            <a:solidFill>
              <a:srgbClr val="EDEDED"/>
            </a:solidFill>
            <a:ln w="9525" cap="rnd">
              <a:solidFill>
                <a:srgbClr val="EE6703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2009707" cy="21957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9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6" id="6"/>
          <p:cNvSpPr/>
          <p:nvPr/>
        </p:nvSpPr>
        <p:spPr>
          <a:xfrm flipV="true">
            <a:off x="852637" y="2955126"/>
            <a:ext cx="7772971" cy="142184"/>
          </a:xfrm>
          <a:prstGeom prst="line">
            <a:avLst/>
          </a:prstGeom>
          <a:ln cap="flat" w="9525">
            <a:solidFill>
              <a:srgbClr val="868E92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13282629" y="2100556"/>
            <a:ext cx="3976671" cy="4469659"/>
            <a:chOff x="0" y="0"/>
            <a:chExt cx="812800" cy="91356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913563"/>
            </a:xfrm>
            <a:custGeom>
              <a:avLst/>
              <a:gdLst/>
              <a:ahLst/>
              <a:cxnLst/>
              <a:rect r="r" b="b" t="t" l="l"/>
              <a:pathLst>
                <a:path h="913563" w="812800">
                  <a:moveTo>
                    <a:pt x="87608" y="0"/>
                  </a:moveTo>
                  <a:lnTo>
                    <a:pt x="725192" y="0"/>
                  </a:lnTo>
                  <a:cubicBezTo>
                    <a:pt x="773577" y="0"/>
                    <a:pt x="812800" y="39223"/>
                    <a:pt x="812800" y="87608"/>
                  </a:cubicBezTo>
                  <a:lnTo>
                    <a:pt x="812800" y="825955"/>
                  </a:lnTo>
                  <a:cubicBezTo>
                    <a:pt x="812800" y="874340"/>
                    <a:pt x="773577" y="913563"/>
                    <a:pt x="725192" y="913563"/>
                  </a:cubicBezTo>
                  <a:lnTo>
                    <a:pt x="87608" y="913563"/>
                  </a:lnTo>
                  <a:cubicBezTo>
                    <a:pt x="39223" y="913563"/>
                    <a:pt x="0" y="874340"/>
                    <a:pt x="0" y="825955"/>
                  </a:cubicBezTo>
                  <a:lnTo>
                    <a:pt x="0" y="87608"/>
                  </a:lnTo>
                  <a:cubicBezTo>
                    <a:pt x="0" y="39223"/>
                    <a:pt x="39223" y="0"/>
                    <a:pt x="87608" y="0"/>
                  </a:cubicBezTo>
                  <a:close/>
                </a:path>
              </a:pathLst>
            </a:custGeom>
            <a:blipFill>
              <a:blip r:embed="rId2"/>
              <a:stretch>
                <a:fillRect l="-34221" t="0" r="-34221" b="0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2011308" y="6819877"/>
            <a:ext cx="3718605" cy="2523096"/>
            <a:chOff x="0" y="0"/>
            <a:chExt cx="1197926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97926" cy="812800"/>
            </a:xfrm>
            <a:custGeom>
              <a:avLst/>
              <a:gdLst/>
              <a:ahLst/>
              <a:cxnLst/>
              <a:rect r="r" b="b" t="t" l="l"/>
              <a:pathLst>
                <a:path h="812800" w="1197926">
                  <a:moveTo>
                    <a:pt x="93687" y="0"/>
                  </a:moveTo>
                  <a:lnTo>
                    <a:pt x="1104238" y="0"/>
                  </a:lnTo>
                  <a:cubicBezTo>
                    <a:pt x="1129086" y="0"/>
                    <a:pt x="1152915" y="9871"/>
                    <a:pt x="1170485" y="27440"/>
                  </a:cubicBezTo>
                  <a:cubicBezTo>
                    <a:pt x="1188055" y="45010"/>
                    <a:pt x="1197926" y="68840"/>
                    <a:pt x="1197926" y="93687"/>
                  </a:cubicBezTo>
                  <a:lnTo>
                    <a:pt x="1197926" y="719113"/>
                  </a:lnTo>
                  <a:cubicBezTo>
                    <a:pt x="1197926" y="743960"/>
                    <a:pt x="1188055" y="767790"/>
                    <a:pt x="1170485" y="785360"/>
                  </a:cubicBezTo>
                  <a:cubicBezTo>
                    <a:pt x="1152915" y="802929"/>
                    <a:pt x="1129086" y="812800"/>
                    <a:pt x="1104238" y="812800"/>
                  </a:cubicBezTo>
                  <a:lnTo>
                    <a:pt x="93687" y="812800"/>
                  </a:lnTo>
                  <a:cubicBezTo>
                    <a:pt x="68840" y="812800"/>
                    <a:pt x="45010" y="802929"/>
                    <a:pt x="27440" y="785360"/>
                  </a:cubicBezTo>
                  <a:cubicBezTo>
                    <a:pt x="9871" y="767790"/>
                    <a:pt x="0" y="743960"/>
                    <a:pt x="0" y="719113"/>
                  </a:cubicBezTo>
                  <a:lnTo>
                    <a:pt x="0" y="93687"/>
                  </a:lnTo>
                  <a:cubicBezTo>
                    <a:pt x="0" y="68840"/>
                    <a:pt x="9871" y="45010"/>
                    <a:pt x="27440" y="27440"/>
                  </a:cubicBezTo>
                  <a:cubicBezTo>
                    <a:pt x="45010" y="9871"/>
                    <a:pt x="68840" y="0"/>
                    <a:pt x="93687" y="0"/>
                  </a:cubicBezTo>
                  <a:close/>
                </a:path>
              </a:pathLst>
            </a:custGeom>
            <a:blipFill>
              <a:blip r:embed="rId3"/>
              <a:stretch>
                <a:fillRect l="-841" t="0" r="-841" b="0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028700" y="1885150"/>
            <a:ext cx="5281956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EE6703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Marco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715900" y="1885150"/>
            <a:ext cx="4234849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283237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teorico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1047750"/>
            <a:ext cx="2274712" cy="239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9"/>
              </a:lnSpc>
            </a:pPr>
            <a:r>
              <a:rPr lang="en-US" sz="1599" b="true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ADOPTAAMIGO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75360" y="3513432"/>
            <a:ext cx="10826334" cy="6814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29"/>
              </a:lnSpc>
            </a:pPr>
            <a:r>
              <a:rPr lang="en-US" sz="2299" b="true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Estado del arte</a:t>
            </a:r>
          </a:p>
          <a:p>
            <a:pPr algn="just">
              <a:lnSpc>
                <a:spcPts val="2529"/>
              </a:lnSpc>
            </a:pPr>
            <a:r>
              <a:rPr lang="en-US" sz="2299" b="true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Actualmente, las herramientas digitales permiten desarrollar plataformas que facilitan el acceso y la organización de información. En el caso de la adopción de mascotas, las publicaciones suelen encontrarse en redes sociales, grupos o diferentes páginas, lo que puede dificultar encontrar información completa sobre los animales disponibles.</a:t>
            </a:r>
          </a:p>
          <a:p>
            <a:pPr algn="just">
              <a:lnSpc>
                <a:spcPts val="2529"/>
              </a:lnSpc>
            </a:pPr>
          </a:p>
          <a:p>
            <a:pPr algn="just">
              <a:lnSpc>
                <a:spcPts val="2529"/>
              </a:lnSpc>
            </a:pPr>
          </a:p>
          <a:p>
            <a:pPr algn="just">
              <a:lnSpc>
                <a:spcPts val="2529"/>
              </a:lnSpc>
            </a:pPr>
            <a:r>
              <a:rPr lang="en-US" sz="2299" b="true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Git y GitHub en AdoptaAmigo</a:t>
            </a:r>
          </a:p>
          <a:p>
            <a:pPr algn="just" marL="496566" indent="-248283" lvl="1">
              <a:lnSpc>
                <a:spcPts val="2529"/>
              </a:lnSpc>
              <a:buFont typeface="Arial"/>
              <a:buChar char="•"/>
            </a:pPr>
            <a:r>
              <a:rPr lang="en-US" b="true" sz="2299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Control de versiones: registra y organiza los cambios del proyecto.</a:t>
            </a:r>
          </a:p>
          <a:p>
            <a:pPr algn="just" marL="496566" indent="-248283" lvl="1">
              <a:lnSpc>
                <a:spcPts val="2529"/>
              </a:lnSpc>
              <a:buFont typeface="Arial"/>
              <a:buChar char="•"/>
            </a:pPr>
            <a:r>
              <a:rPr lang="en-US" b="true" sz="2299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Repositorio: almacena el código, archivos y recursos de AdoptaAmigo.</a:t>
            </a:r>
          </a:p>
          <a:p>
            <a:pPr algn="just" marL="496566" indent="-248283" lvl="1">
              <a:lnSpc>
                <a:spcPts val="2529"/>
              </a:lnSpc>
              <a:buFont typeface="Arial"/>
              <a:buChar char="•"/>
            </a:pPr>
            <a:r>
              <a:rPr lang="en-US" b="true" sz="2299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Branches: permiten trabajar en diferentes funcionalidades sin afectar main.</a:t>
            </a:r>
          </a:p>
          <a:p>
            <a:pPr algn="just" marL="496566" indent="-248283" lvl="1">
              <a:lnSpc>
                <a:spcPts val="2529"/>
              </a:lnSpc>
              <a:buFont typeface="Arial"/>
              <a:buChar char="•"/>
            </a:pPr>
            <a:r>
              <a:rPr lang="en-US" b="true" sz="2299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Commits: guardan cada avance realizado con un mensaje descriptivo.</a:t>
            </a:r>
          </a:p>
          <a:p>
            <a:pPr algn="just" marL="496566" indent="-248283" lvl="1">
              <a:lnSpc>
                <a:spcPts val="2529"/>
              </a:lnSpc>
              <a:buFont typeface="Arial"/>
              <a:buChar char="•"/>
            </a:pPr>
            <a:r>
              <a:rPr lang="en-US" b="true" sz="2299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Merge: integra los cambios de diferentes ramas.</a:t>
            </a:r>
          </a:p>
          <a:p>
            <a:pPr algn="just" marL="496566" indent="-248283" lvl="1">
              <a:lnSpc>
                <a:spcPts val="2529"/>
              </a:lnSpc>
              <a:buFont typeface="Arial"/>
              <a:buChar char="•"/>
            </a:pPr>
            <a:r>
              <a:rPr lang="en-US" b="true" sz="2299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Conflictos: aparecen cuando dos integrantes modifican la misma parte; Git permite resolverlos.</a:t>
            </a:r>
          </a:p>
          <a:p>
            <a:pPr algn="just" marL="496566" indent="-248283" lvl="1">
              <a:lnSpc>
                <a:spcPts val="2529"/>
              </a:lnSpc>
              <a:buFont typeface="Arial"/>
              <a:buChar char="•"/>
            </a:pPr>
            <a:r>
              <a:rPr lang="en-US" b="true" sz="2299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Git + GitHub: facilitan el control, almacenamiento y trabajo colaborativo.</a:t>
            </a:r>
          </a:p>
          <a:p>
            <a:pPr algn="just">
              <a:lnSpc>
                <a:spcPts val="2529"/>
              </a:lnSpc>
            </a:pPr>
          </a:p>
          <a:p>
            <a:pPr algn="just">
              <a:lnSpc>
                <a:spcPts val="2529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479095"/>
            <a:ext cx="16230600" cy="0"/>
          </a:xfrm>
          <a:prstGeom prst="line">
            <a:avLst/>
          </a:prstGeom>
          <a:ln cap="flat" w="9525">
            <a:solidFill>
              <a:srgbClr val="868E92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-1014806" y="4553814"/>
            <a:ext cx="9112363" cy="6802458"/>
            <a:chOff x="0" y="0"/>
            <a:chExt cx="2399964" cy="179159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399964" cy="1791594"/>
            </a:xfrm>
            <a:custGeom>
              <a:avLst/>
              <a:gdLst/>
              <a:ahLst/>
              <a:cxnLst/>
              <a:rect r="r" b="b" t="t" l="l"/>
              <a:pathLst>
                <a:path h="1791594" w="2399964">
                  <a:moveTo>
                    <a:pt x="38232" y="0"/>
                  </a:moveTo>
                  <a:lnTo>
                    <a:pt x="2361732" y="0"/>
                  </a:lnTo>
                  <a:cubicBezTo>
                    <a:pt x="2371872" y="0"/>
                    <a:pt x="2381596" y="4028"/>
                    <a:pt x="2388766" y="11198"/>
                  </a:cubicBezTo>
                  <a:cubicBezTo>
                    <a:pt x="2395936" y="18368"/>
                    <a:pt x="2399964" y="28092"/>
                    <a:pt x="2399964" y="38232"/>
                  </a:cubicBezTo>
                  <a:lnTo>
                    <a:pt x="2399964" y="1753362"/>
                  </a:lnTo>
                  <a:cubicBezTo>
                    <a:pt x="2399964" y="1774477"/>
                    <a:pt x="2382847" y="1791594"/>
                    <a:pt x="2361732" y="1791594"/>
                  </a:cubicBezTo>
                  <a:lnTo>
                    <a:pt x="38232" y="1791594"/>
                  </a:lnTo>
                  <a:cubicBezTo>
                    <a:pt x="28092" y="1791594"/>
                    <a:pt x="18368" y="1787566"/>
                    <a:pt x="11198" y="1780396"/>
                  </a:cubicBezTo>
                  <a:cubicBezTo>
                    <a:pt x="4028" y="1773226"/>
                    <a:pt x="0" y="1763501"/>
                    <a:pt x="0" y="1753362"/>
                  </a:cubicBezTo>
                  <a:lnTo>
                    <a:pt x="0" y="38232"/>
                  </a:lnTo>
                  <a:cubicBezTo>
                    <a:pt x="0" y="28092"/>
                    <a:pt x="4028" y="18368"/>
                    <a:pt x="11198" y="11198"/>
                  </a:cubicBezTo>
                  <a:cubicBezTo>
                    <a:pt x="18368" y="4028"/>
                    <a:pt x="28092" y="0"/>
                    <a:pt x="38232" y="0"/>
                  </a:cubicBezTo>
                  <a:close/>
                </a:path>
              </a:pathLst>
            </a:custGeom>
            <a:solidFill>
              <a:srgbClr val="EDEDED"/>
            </a:solidFill>
            <a:ln w="9525" cap="rnd">
              <a:solidFill>
                <a:srgbClr val="EE6703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2399964" cy="18201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9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28700" y="3932495"/>
            <a:ext cx="3976671" cy="3267504"/>
            <a:chOff x="0" y="0"/>
            <a:chExt cx="812800" cy="6678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667852"/>
            </a:xfrm>
            <a:custGeom>
              <a:avLst/>
              <a:gdLst/>
              <a:ahLst/>
              <a:cxnLst/>
              <a:rect r="r" b="b" t="t" l="l"/>
              <a:pathLst>
                <a:path h="667852" w="812800">
                  <a:moveTo>
                    <a:pt x="87608" y="0"/>
                  </a:moveTo>
                  <a:lnTo>
                    <a:pt x="725192" y="0"/>
                  </a:lnTo>
                  <a:cubicBezTo>
                    <a:pt x="773577" y="0"/>
                    <a:pt x="812800" y="39223"/>
                    <a:pt x="812800" y="87608"/>
                  </a:cubicBezTo>
                  <a:lnTo>
                    <a:pt x="812800" y="580244"/>
                  </a:lnTo>
                  <a:cubicBezTo>
                    <a:pt x="812800" y="628629"/>
                    <a:pt x="773577" y="667852"/>
                    <a:pt x="725192" y="667852"/>
                  </a:cubicBezTo>
                  <a:lnTo>
                    <a:pt x="87608" y="667852"/>
                  </a:lnTo>
                  <a:cubicBezTo>
                    <a:pt x="39223" y="667852"/>
                    <a:pt x="0" y="628629"/>
                    <a:pt x="0" y="580244"/>
                  </a:cubicBezTo>
                  <a:lnTo>
                    <a:pt x="0" y="87608"/>
                  </a:lnTo>
                  <a:cubicBezTo>
                    <a:pt x="0" y="39223"/>
                    <a:pt x="39223" y="0"/>
                    <a:pt x="87608" y="0"/>
                  </a:cubicBezTo>
                  <a:close/>
                </a:path>
              </a:pathLst>
            </a:custGeom>
            <a:blipFill>
              <a:blip r:embed="rId2"/>
              <a:stretch>
                <a:fillRect l="-11569" t="0" r="-11569" b="0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5603708" y="5791568"/>
            <a:ext cx="3976671" cy="3466732"/>
            <a:chOff x="0" y="0"/>
            <a:chExt cx="812800" cy="70857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708573"/>
            </a:xfrm>
            <a:custGeom>
              <a:avLst/>
              <a:gdLst/>
              <a:ahLst/>
              <a:cxnLst/>
              <a:rect r="r" b="b" t="t" l="l"/>
              <a:pathLst>
                <a:path h="708573" w="812800">
                  <a:moveTo>
                    <a:pt x="87608" y="0"/>
                  </a:moveTo>
                  <a:lnTo>
                    <a:pt x="725192" y="0"/>
                  </a:lnTo>
                  <a:cubicBezTo>
                    <a:pt x="773577" y="0"/>
                    <a:pt x="812800" y="39223"/>
                    <a:pt x="812800" y="87608"/>
                  </a:cubicBezTo>
                  <a:lnTo>
                    <a:pt x="812800" y="620965"/>
                  </a:lnTo>
                  <a:cubicBezTo>
                    <a:pt x="812800" y="644200"/>
                    <a:pt x="803570" y="666483"/>
                    <a:pt x="787140" y="682913"/>
                  </a:cubicBezTo>
                  <a:cubicBezTo>
                    <a:pt x="770711" y="699343"/>
                    <a:pt x="748427" y="708573"/>
                    <a:pt x="725192" y="708573"/>
                  </a:cubicBezTo>
                  <a:lnTo>
                    <a:pt x="87608" y="708573"/>
                  </a:lnTo>
                  <a:cubicBezTo>
                    <a:pt x="39223" y="708573"/>
                    <a:pt x="0" y="669349"/>
                    <a:pt x="0" y="620965"/>
                  </a:cubicBezTo>
                  <a:lnTo>
                    <a:pt x="0" y="87608"/>
                  </a:lnTo>
                  <a:cubicBezTo>
                    <a:pt x="0" y="39223"/>
                    <a:pt x="39223" y="0"/>
                    <a:pt x="87608" y="0"/>
                  </a:cubicBezTo>
                  <a:close/>
                </a:path>
              </a:pathLst>
            </a:custGeom>
            <a:blipFill>
              <a:blip r:embed="rId3"/>
              <a:stretch>
                <a:fillRect l="-15362" t="0" r="-15362" b="0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028700" y="2050461"/>
            <a:ext cx="7497927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EE6703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Metodologia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1047750"/>
            <a:ext cx="2274712" cy="239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9"/>
              </a:lnSpc>
            </a:pPr>
            <a:r>
              <a:rPr lang="en-US" sz="1599" b="true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ADOPTAAMIGO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922541" y="2438667"/>
            <a:ext cx="7336759" cy="7223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2499" spc="-24" b="true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Tipo de investigación</a:t>
            </a:r>
          </a:p>
          <a:p>
            <a:pPr algn="l">
              <a:lnSpc>
                <a:spcPts val="2749"/>
              </a:lnSpc>
            </a:pPr>
            <a:r>
              <a:rPr lang="en-US" sz="2499" spc="-24" b="true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Aplicada</a:t>
            </a:r>
          </a:p>
          <a:p>
            <a:pPr algn="l" marL="539748" indent="-269874" lvl="1">
              <a:lnSpc>
                <a:spcPts val="2749"/>
              </a:lnSpc>
              <a:buFont typeface="Arial"/>
              <a:buChar char="•"/>
            </a:pPr>
            <a:r>
              <a:rPr lang="en-US" b="true" sz="2499" spc="-24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Busca solucionar una problemática real.</a:t>
            </a:r>
          </a:p>
          <a:p>
            <a:pPr algn="l" marL="539748" indent="-269874" lvl="1">
              <a:lnSpc>
                <a:spcPts val="2749"/>
              </a:lnSpc>
              <a:buFont typeface="Arial"/>
              <a:buChar char="•"/>
            </a:pPr>
            <a:r>
              <a:rPr lang="en-US" b="true" sz="2499" spc="-24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Se desarrolla la plataforma AdoptaAmigo.</a:t>
            </a:r>
          </a:p>
          <a:p>
            <a:pPr algn="l" marL="539748" indent="-269874" lvl="1">
              <a:lnSpc>
                <a:spcPts val="2749"/>
              </a:lnSpc>
              <a:buFont typeface="Arial"/>
              <a:buChar char="•"/>
            </a:pPr>
            <a:r>
              <a:rPr lang="en-US" b="true" sz="2499" spc="-24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Aplica conocimientos de desarrollo de software.</a:t>
            </a:r>
          </a:p>
          <a:p>
            <a:pPr algn="l">
              <a:lnSpc>
                <a:spcPts val="2749"/>
              </a:lnSpc>
            </a:pPr>
            <a:r>
              <a:rPr lang="en-US" sz="2499" spc="-24" b="true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Técnicas</a:t>
            </a:r>
          </a:p>
          <a:p>
            <a:pPr algn="l" marL="539748" indent="-269874" lvl="1">
              <a:lnSpc>
                <a:spcPts val="2749"/>
              </a:lnSpc>
              <a:buFont typeface="Arial"/>
              <a:buChar char="•"/>
            </a:pPr>
            <a:r>
              <a:rPr lang="en-US" b="true" sz="2499" spc="-24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Observación: identificar necesidades.</a:t>
            </a:r>
          </a:p>
          <a:p>
            <a:pPr algn="l" marL="539748" indent="-269874" lvl="1">
              <a:lnSpc>
                <a:spcPts val="2749"/>
              </a:lnSpc>
              <a:buFont typeface="Arial"/>
              <a:buChar char="•"/>
            </a:pPr>
            <a:r>
              <a:rPr lang="en-US" b="true" sz="2499" spc="-24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Recopilación: definir información de las mascotas.</a:t>
            </a:r>
          </a:p>
          <a:p>
            <a:pPr algn="l" marL="539748" indent="-269874" lvl="1">
              <a:lnSpc>
                <a:spcPts val="2749"/>
              </a:lnSpc>
              <a:buFont typeface="Arial"/>
              <a:buChar char="•"/>
            </a:pPr>
            <a:r>
              <a:rPr lang="en-US" b="true" sz="2499" spc="-24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Pruebas funcionales: verificar el funcionamiento.</a:t>
            </a:r>
          </a:p>
          <a:p>
            <a:pPr algn="l">
              <a:lnSpc>
                <a:spcPts val="2749"/>
              </a:lnSpc>
            </a:pPr>
            <a:r>
              <a:rPr lang="en-US" sz="2499" spc="-24" b="true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 Materiales</a:t>
            </a:r>
          </a:p>
          <a:p>
            <a:pPr algn="l" marL="539748" indent="-269874" lvl="1">
              <a:lnSpc>
                <a:spcPts val="2749"/>
              </a:lnSpc>
              <a:buFont typeface="Arial"/>
              <a:buChar char="•"/>
            </a:pPr>
            <a:r>
              <a:rPr lang="en-US" b="true" sz="2499" spc="-24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Computadora e Internet.</a:t>
            </a:r>
          </a:p>
          <a:p>
            <a:pPr algn="l" marL="539748" indent="-269874" lvl="1">
              <a:lnSpc>
                <a:spcPts val="2749"/>
              </a:lnSpc>
              <a:buFont typeface="Arial"/>
              <a:buChar char="•"/>
            </a:pPr>
            <a:r>
              <a:rPr lang="en-US" b="true" sz="2499" spc="-24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Editor de código.</a:t>
            </a:r>
          </a:p>
          <a:p>
            <a:pPr algn="l" marL="539748" indent="-269874" lvl="1">
              <a:lnSpc>
                <a:spcPts val="2749"/>
              </a:lnSpc>
              <a:buFont typeface="Arial"/>
              <a:buChar char="•"/>
            </a:pPr>
            <a:r>
              <a:rPr lang="en-US" b="true" sz="2499" spc="-24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Imágenes e información.</a:t>
            </a:r>
          </a:p>
          <a:p>
            <a:pPr algn="l" marL="539748" indent="-269874" lvl="1">
              <a:lnSpc>
                <a:spcPts val="2749"/>
              </a:lnSpc>
              <a:buFont typeface="Arial"/>
              <a:buChar char="•"/>
            </a:pPr>
            <a:r>
              <a:rPr lang="en-US" b="true" sz="2499" spc="-24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Diseños y archivos del proyecto.</a:t>
            </a:r>
          </a:p>
          <a:p>
            <a:pPr algn="l" marL="539748" indent="-269874" lvl="1">
              <a:lnSpc>
                <a:spcPts val="2749"/>
              </a:lnSpc>
              <a:buFont typeface="Arial"/>
              <a:buChar char="•"/>
            </a:pPr>
            <a:r>
              <a:rPr lang="en-US" b="true" sz="2499" spc="-24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Repositorio colaborativo.</a:t>
            </a:r>
          </a:p>
          <a:p>
            <a:pPr algn="l">
              <a:lnSpc>
                <a:spcPts val="2859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479095"/>
            <a:ext cx="16230600" cy="0"/>
          </a:xfrm>
          <a:prstGeom prst="line">
            <a:avLst/>
          </a:prstGeom>
          <a:ln cap="flat" w="9525">
            <a:solidFill>
              <a:srgbClr val="868E92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14173200" y="3122572"/>
            <a:ext cx="4768122" cy="7997966"/>
            <a:chOff x="0" y="0"/>
            <a:chExt cx="1255802" cy="21064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255802" cy="2106460"/>
            </a:xfrm>
            <a:custGeom>
              <a:avLst/>
              <a:gdLst/>
              <a:ahLst/>
              <a:cxnLst/>
              <a:rect r="r" b="b" t="t" l="l"/>
              <a:pathLst>
                <a:path h="2106460" w="1255802">
                  <a:moveTo>
                    <a:pt x="73066" y="0"/>
                  </a:moveTo>
                  <a:lnTo>
                    <a:pt x="1182736" y="0"/>
                  </a:lnTo>
                  <a:cubicBezTo>
                    <a:pt x="1202114" y="0"/>
                    <a:pt x="1220699" y="7698"/>
                    <a:pt x="1234401" y="21400"/>
                  </a:cubicBezTo>
                  <a:cubicBezTo>
                    <a:pt x="1248104" y="35103"/>
                    <a:pt x="1255802" y="53688"/>
                    <a:pt x="1255802" y="73066"/>
                  </a:cubicBezTo>
                  <a:lnTo>
                    <a:pt x="1255802" y="2033395"/>
                  </a:lnTo>
                  <a:cubicBezTo>
                    <a:pt x="1255802" y="2052773"/>
                    <a:pt x="1248104" y="2071357"/>
                    <a:pt x="1234401" y="2085060"/>
                  </a:cubicBezTo>
                  <a:cubicBezTo>
                    <a:pt x="1220699" y="2098762"/>
                    <a:pt x="1202114" y="2106460"/>
                    <a:pt x="1182736" y="2106460"/>
                  </a:cubicBezTo>
                  <a:lnTo>
                    <a:pt x="73066" y="2106460"/>
                  </a:lnTo>
                  <a:cubicBezTo>
                    <a:pt x="53688" y="2106460"/>
                    <a:pt x="35103" y="2098762"/>
                    <a:pt x="21400" y="2085060"/>
                  </a:cubicBezTo>
                  <a:cubicBezTo>
                    <a:pt x="7698" y="2071357"/>
                    <a:pt x="0" y="2052773"/>
                    <a:pt x="0" y="2033395"/>
                  </a:cubicBezTo>
                  <a:lnTo>
                    <a:pt x="0" y="73066"/>
                  </a:lnTo>
                  <a:cubicBezTo>
                    <a:pt x="0" y="53688"/>
                    <a:pt x="7698" y="35103"/>
                    <a:pt x="21400" y="21400"/>
                  </a:cubicBezTo>
                  <a:cubicBezTo>
                    <a:pt x="35103" y="7698"/>
                    <a:pt x="53688" y="0"/>
                    <a:pt x="73066" y="0"/>
                  </a:cubicBezTo>
                  <a:close/>
                </a:path>
              </a:pathLst>
            </a:custGeom>
            <a:solidFill>
              <a:srgbClr val="EDEDED"/>
            </a:solidFill>
            <a:ln w="9525" cap="rnd">
              <a:solidFill>
                <a:srgbClr val="EE6703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1255802" cy="21350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9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140054" y="2100556"/>
            <a:ext cx="3976671" cy="3267504"/>
            <a:chOff x="0" y="0"/>
            <a:chExt cx="812800" cy="6678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667852"/>
            </a:xfrm>
            <a:custGeom>
              <a:avLst/>
              <a:gdLst/>
              <a:ahLst/>
              <a:cxnLst/>
              <a:rect r="r" b="b" t="t" l="l"/>
              <a:pathLst>
                <a:path h="667852" w="812800">
                  <a:moveTo>
                    <a:pt x="87608" y="0"/>
                  </a:moveTo>
                  <a:lnTo>
                    <a:pt x="725192" y="0"/>
                  </a:lnTo>
                  <a:cubicBezTo>
                    <a:pt x="773577" y="0"/>
                    <a:pt x="812800" y="39223"/>
                    <a:pt x="812800" y="87608"/>
                  </a:cubicBezTo>
                  <a:lnTo>
                    <a:pt x="812800" y="580244"/>
                  </a:lnTo>
                  <a:cubicBezTo>
                    <a:pt x="812800" y="628629"/>
                    <a:pt x="773577" y="667852"/>
                    <a:pt x="725192" y="667852"/>
                  </a:cubicBezTo>
                  <a:lnTo>
                    <a:pt x="87608" y="667852"/>
                  </a:lnTo>
                  <a:cubicBezTo>
                    <a:pt x="39223" y="667852"/>
                    <a:pt x="0" y="628629"/>
                    <a:pt x="0" y="580244"/>
                  </a:cubicBezTo>
                  <a:lnTo>
                    <a:pt x="0" y="87608"/>
                  </a:lnTo>
                  <a:cubicBezTo>
                    <a:pt x="0" y="39223"/>
                    <a:pt x="39223" y="0"/>
                    <a:pt x="87608" y="0"/>
                  </a:cubicBezTo>
                  <a:close/>
                </a:path>
              </a:pathLst>
            </a:custGeom>
            <a:blipFill>
              <a:blip r:embed="rId2"/>
              <a:stretch>
                <a:fillRect l="-11569" t="0" r="-11569" b="0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3282629" y="5791568"/>
            <a:ext cx="3976671" cy="3466732"/>
            <a:chOff x="0" y="0"/>
            <a:chExt cx="812800" cy="70857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708573"/>
            </a:xfrm>
            <a:custGeom>
              <a:avLst/>
              <a:gdLst/>
              <a:ahLst/>
              <a:cxnLst/>
              <a:rect r="r" b="b" t="t" l="l"/>
              <a:pathLst>
                <a:path h="708573" w="812800">
                  <a:moveTo>
                    <a:pt x="87608" y="0"/>
                  </a:moveTo>
                  <a:lnTo>
                    <a:pt x="725192" y="0"/>
                  </a:lnTo>
                  <a:cubicBezTo>
                    <a:pt x="773577" y="0"/>
                    <a:pt x="812800" y="39223"/>
                    <a:pt x="812800" y="87608"/>
                  </a:cubicBezTo>
                  <a:lnTo>
                    <a:pt x="812800" y="620965"/>
                  </a:lnTo>
                  <a:cubicBezTo>
                    <a:pt x="812800" y="644200"/>
                    <a:pt x="803570" y="666483"/>
                    <a:pt x="787140" y="682913"/>
                  </a:cubicBezTo>
                  <a:cubicBezTo>
                    <a:pt x="770711" y="699343"/>
                    <a:pt x="748427" y="708573"/>
                    <a:pt x="725192" y="708573"/>
                  </a:cubicBezTo>
                  <a:lnTo>
                    <a:pt x="87608" y="708573"/>
                  </a:lnTo>
                  <a:cubicBezTo>
                    <a:pt x="39223" y="708573"/>
                    <a:pt x="0" y="669349"/>
                    <a:pt x="0" y="620965"/>
                  </a:cubicBezTo>
                  <a:lnTo>
                    <a:pt x="0" y="87608"/>
                  </a:lnTo>
                  <a:cubicBezTo>
                    <a:pt x="0" y="39223"/>
                    <a:pt x="39223" y="0"/>
                    <a:pt x="87608" y="0"/>
                  </a:cubicBezTo>
                  <a:close/>
                </a:path>
              </a:pathLst>
            </a:custGeom>
            <a:blipFill>
              <a:blip r:embed="rId3"/>
              <a:stretch>
                <a:fillRect l="-15300" t="0" r="-15300" b="0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028700" y="1047750"/>
            <a:ext cx="2274712" cy="239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9"/>
              </a:lnSpc>
            </a:pPr>
            <a:r>
              <a:rPr lang="en-US" sz="1599" b="true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ADOPTAAMIGO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21497" y="2193975"/>
            <a:ext cx="8442554" cy="6673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1"/>
              </a:lnSpc>
            </a:pPr>
            <a:r>
              <a:rPr lang="en-US" sz="2991" spc="-29" b="true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instrumentos y procedimiento</a:t>
            </a:r>
          </a:p>
          <a:p>
            <a:pPr algn="l">
              <a:lnSpc>
                <a:spcPts val="3291"/>
              </a:lnSpc>
            </a:pPr>
            <a:r>
              <a:rPr lang="en-US" sz="2991" spc="-29" b="true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Instrumentos</a:t>
            </a:r>
          </a:p>
          <a:p>
            <a:pPr algn="l" marL="645942" indent="-322971" lvl="1">
              <a:lnSpc>
                <a:spcPts val="3291"/>
              </a:lnSpc>
              <a:buFont typeface="Arial"/>
              <a:buChar char="•"/>
            </a:pPr>
            <a:r>
              <a:rPr lang="en-US" b="true" sz="2991" spc="-29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Ficha de requerimientos</a:t>
            </a:r>
          </a:p>
          <a:p>
            <a:pPr algn="l" marL="645942" indent="-322971" lvl="1">
              <a:lnSpc>
                <a:spcPts val="3291"/>
              </a:lnSpc>
              <a:buFont typeface="Arial"/>
              <a:buChar char="•"/>
            </a:pPr>
            <a:r>
              <a:rPr lang="en-US" b="true" sz="2991" spc="-29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Lista de pruebas</a:t>
            </a:r>
          </a:p>
          <a:p>
            <a:pPr algn="l" marL="645942" indent="-322971" lvl="1">
              <a:lnSpc>
                <a:spcPts val="3291"/>
              </a:lnSpc>
              <a:buFont typeface="Arial"/>
              <a:buChar char="•"/>
            </a:pPr>
            <a:r>
              <a:rPr lang="en-US" b="true" sz="2991" spc="-29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Git y GitHub</a:t>
            </a:r>
          </a:p>
          <a:p>
            <a:pPr algn="l" marL="645942" indent="-322971" lvl="1">
              <a:lnSpc>
                <a:spcPts val="3291"/>
              </a:lnSpc>
              <a:buFont typeface="Arial"/>
              <a:buChar char="•"/>
            </a:pPr>
          </a:p>
          <a:p>
            <a:pPr algn="l">
              <a:lnSpc>
                <a:spcPts val="3291"/>
              </a:lnSpc>
            </a:pPr>
            <a:r>
              <a:rPr lang="en-US" sz="2991" spc="-29" b="true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Sustento</a:t>
            </a:r>
          </a:p>
          <a:p>
            <a:pPr algn="l" marL="645942" indent="-322971" lvl="1">
              <a:lnSpc>
                <a:spcPts val="3291"/>
              </a:lnSpc>
              <a:buFont typeface="Arial"/>
              <a:buChar char="•"/>
            </a:pPr>
            <a:r>
              <a:rPr lang="en-US" b="true" sz="2991" spc="-29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Organiza el desarrollo.</a:t>
            </a:r>
          </a:p>
          <a:p>
            <a:pPr algn="l" marL="645942" indent="-322971" lvl="1">
              <a:lnSpc>
                <a:spcPts val="3291"/>
              </a:lnSpc>
              <a:buFont typeface="Arial"/>
              <a:buChar char="•"/>
            </a:pPr>
            <a:r>
              <a:rPr lang="en-US" b="true" sz="2991" spc="-29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Facilita el trabajo en equipo.</a:t>
            </a:r>
          </a:p>
          <a:p>
            <a:pPr algn="l" marL="645942" indent="-322971" lvl="1">
              <a:lnSpc>
                <a:spcPts val="3291"/>
              </a:lnSpc>
              <a:buFont typeface="Arial"/>
              <a:buChar char="•"/>
            </a:pPr>
            <a:r>
              <a:rPr lang="en-US" b="true" sz="2991" spc="-29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Permite controlar cambios.</a:t>
            </a:r>
          </a:p>
          <a:p>
            <a:pPr algn="l" marL="645942" indent="-322971" lvl="1">
              <a:lnSpc>
                <a:spcPts val="3291"/>
              </a:lnSpc>
              <a:buFont typeface="Arial"/>
              <a:buChar char="•"/>
            </a:pPr>
            <a:r>
              <a:rPr lang="en-US" b="true" sz="2991" spc="-29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Verifica que AdoptaAmigo cumpla sus objetivos.</a:t>
            </a:r>
          </a:p>
          <a:p>
            <a:pPr algn="l">
              <a:lnSpc>
                <a:spcPts val="3291"/>
              </a:lnSpc>
            </a:pPr>
          </a:p>
          <a:p>
            <a:pPr algn="l">
              <a:lnSpc>
                <a:spcPts val="3291"/>
              </a:lnSpc>
            </a:pPr>
            <a:r>
              <a:rPr lang="en-US" sz="2991" spc="-29" b="true">
                <a:solidFill>
                  <a:srgbClr val="6E777B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Resultado: una plataforma funcional y desarrollada colaborativamente.</a:t>
            </a:r>
          </a:p>
          <a:p>
            <a:pPr algn="l">
              <a:lnSpc>
                <a:spcPts val="3291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479095"/>
            <a:ext cx="16230600" cy="0"/>
          </a:xfrm>
          <a:prstGeom prst="line">
            <a:avLst/>
          </a:prstGeom>
          <a:ln cap="flat" w="9525">
            <a:solidFill>
              <a:srgbClr val="868E92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15542977" y="661707"/>
            <a:ext cx="2430759" cy="2576450"/>
            <a:chOff x="0" y="0"/>
            <a:chExt cx="905013" cy="95925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05013" cy="959256"/>
            </a:xfrm>
            <a:custGeom>
              <a:avLst/>
              <a:gdLst/>
              <a:ahLst/>
              <a:cxnLst/>
              <a:rect r="r" b="b" t="t" l="l"/>
              <a:pathLst>
                <a:path h="959256" w="905013">
                  <a:moveTo>
                    <a:pt x="143324" y="0"/>
                  </a:moveTo>
                  <a:lnTo>
                    <a:pt x="761689" y="0"/>
                  </a:lnTo>
                  <a:cubicBezTo>
                    <a:pt x="840845" y="0"/>
                    <a:pt x="905013" y="64168"/>
                    <a:pt x="905013" y="143324"/>
                  </a:cubicBezTo>
                  <a:lnTo>
                    <a:pt x="905013" y="815932"/>
                  </a:lnTo>
                  <a:cubicBezTo>
                    <a:pt x="905013" y="895088"/>
                    <a:pt x="840845" y="959256"/>
                    <a:pt x="761689" y="959256"/>
                  </a:cubicBezTo>
                  <a:lnTo>
                    <a:pt x="143324" y="959256"/>
                  </a:lnTo>
                  <a:cubicBezTo>
                    <a:pt x="64168" y="959256"/>
                    <a:pt x="0" y="895088"/>
                    <a:pt x="0" y="815932"/>
                  </a:cubicBezTo>
                  <a:lnTo>
                    <a:pt x="0" y="143324"/>
                  </a:lnTo>
                  <a:cubicBezTo>
                    <a:pt x="0" y="64168"/>
                    <a:pt x="64168" y="0"/>
                    <a:pt x="14332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8566" r="0" b="-8566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grpSp>
        <p:nvGrpSpPr>
          <p:cNvPr name="Group 5" id="5"/>
          <p:cNvGrpSpPr/>
          <p:nvPr/>
        </p:nvGrpSpPr>
        <p:grpSpPr>
          <a:xfrm rot="0">
            <a:off x="-1035799" y="7517780"/>
            <a:ext cx="18960372" cy="3830779"/>
            <a:chOff x="0" y="0"/>
            <a:chExt cx="4993678" cy="100892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93678" cy="1008929"/>
            </a:xfrm>
            <a:custGeom>
              <a:avLst/>
              <a:gdLst/>
              <a:ahLst/>
              <a:cxnLst/>
              <a:rect r="r" b="b" t="t" l="l"/>
              <a:pathLst>
                <a:path h="1008929" w="4993678">
                  <a:moveTo>
                    <a:pt x="18374" y="0"/>
                  </a:moveTo>
                  <a:lnTo>
                    <a:pt x="4975304" y="0"/>
                  </a:lnTo>
                  <a:cubicBezTo>
                    <a:pt x="4985452" y="0"/>
                    <a:pt x="4993678" y="8227"/>
                    <a:pt x="4993678" y="18374"/>
                  </a:cubicBezTo>
                  <a:lnTo>
                    <a:pt x="4993678" y="990555"/>
                  </a:lnTo>
                  <a:cubicBezTo>
                    <a:pt x="4993678" y="1000703"/>
                    <a:pt x="4985452" y="1008929"/>
                    <a:pt x="4975304" y="1008929"/>
                  </a:cubicBezTo>
                  <a:lnTo>
                    <a:pt x="18374" y="1008929"/>
                  </a:lnTo>
                  <a:cubicBezTo>
                    <a:pt x="8227" y="1008929"/>
                    <a:pt x="0" y="1000703"/>
                    <a:pt x="0" y="990555"/>
                  </a:cubicBezTo>
                  <a:lnTo>
                    <a:pt x="0" y="18374"/>
                  </a:lnTo>
                  <a:cubicBezTo>
                    <a:pt x="0" y="8227"/>
                    <a:pt x="8227" y="0"/>
                    <a:pt x="18374" y="0"/>
                  </a:cubicBezTo>
                  <a:close/>
                </a:path>
              </a:pathLst>
            </a:custGeom>
            <a:solidFill>
              <a:srgbClr val="EDEDED"/>
            </a:solidFill>
            <a:ln w="9525" cap="rnd">
              <a:solidFill>
                <a:srgbClr val="EE6703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4993678" cy="10375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9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992731" y="8727550"/>
            <a:ext cx="215194" cy="215194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E670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611356" y="8727550"/>
            <a:ext cx="215194" cy="215194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E670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3374106" y="8727550"/>
            <a:ext cx="215194" cy="215194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E6703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758356" y="8727550"/>
            <a:ext cx="215194" cy="215194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E6703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839938" y="7091010"/>
            <a:ext cx="1836837" cy="2342159"/>
            <a:chOff x="0" y="0"/>
            <a:chExt cx="559755" cy="71374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59755" cy="713746"/>
            </a:xfrm>
            <a:custGeom>
              <a:avLst/>
              <a:gdLst/>
              <a:ahLst/>
              <a:cxnLst/>
              <a:rect r="r" b="b" t="t" l="l"/>
              <a:pathLst>
                <a:path h="713746" w="559755">
                  <a:moveTo>
                    <a:pt x="189667" y="0"/>
                  </a:moveTo>
                  <a:lnTo>
                    <a:pt x="370088" y="0"/>
                  </a:lnTo>
                  <a:cubicBezTo>
                    <a:pt x="474838" y="0"/>
                    <a:pt x="559755" y="84917"/>
                    <a:pt x="559755" y="189667"/>
                  </a:cubicBezTo>
                  <a:lnTo>
                    <a:pt x="559755" y="524080"/>
                  </a:lnTo>
                  <a:cubicBezTo>
                    <a:pt x="559755" y="574382"/>
                    <a:pt x="539772" y="622625"/>
                    <a:pt x="504203" y="658194"/>
                  </a:cubicBezTo>
                  <a:cubicBezTo>
                    <a:pt x="468633" y="693764"/>
                    <a:pt x="420391" y="713746"/>
                    <a:pt x="370088" y="713746"/>
                  </a:cubicBezTo>
                  <a:lnTo>
                    <a:pt x="189667" y="713746"/>
                  </a:lnTo>
                  <a:cubicBezTo>
                    <a:pt x="139364" y="713746"/>
                    <a:pt x="91121" y="693764"/>
                    <a:pt x="55552" y="658194"/>
                  </a:cubicBezTo>
                  <a:cubicBezTo>
                    <a:pt x="19983" y="622625"/>
                    <a:pt x="0" y="574382"/>
                    <a:pt x="0" y="524080"/>
                  </a:cubicBezTo>
                  <a:lnTo>
                    <a:pt x="0" y="189667"/>
                  </a:lnTo>
                  <a:cubicBezTo>
                    <a:pt x="0" y="139364"/>
                    <a:pt x="19983" y="91121"/>
                    <a:pt x="55552" y="55552"/>
                  </a:cubicBezTo>
                  <a:cubicBezTo>
                    <a:pt x="91121" y="19983"/>
                    <a:pt x="139364" y="0"/>
                    <a:pt x="189667" y="0"/>
                  </a:cubicBezTo>
                  <a:close/>
                </a:path>
              </a:pathLst>
            </a:custGeom>
            <a:blipFill>
              <a:blip r:embed="rId3"/>
              <a:stretch>
                <a:fillRect l="-45545" t="-11486" r="-67495" b="0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sp>
        <p:nvSpPr>
          <p:cNvPr name="AutoShape 22" id="22"/>
          <p:cNvSpPr/>
          <p:nvPr/>
        </p:nvSpPr>
        <p:spPr>
          <a:xfrm>
            <a:off x="10357342" y="4498878"/>
            <a:ext cx="1225879" cy="0"/>
          </a:xfrm>
          <a:prstGeom prst="line">
            <a:avLst/>
          </a:prstGeom>
          <a:ln cap="flat" w="9525">
            <a:solidFill>
              <a:srgbClr val="868E92"/>
            </a:solidFill>
            <a:prstDash val="solid"/>
            <a:headEnd type="none" len="sm" w="sm"/>
            <a:tailEnd type="none" len="sm" w="sm"/>
          </a:ln>
        </p:spPr>
      </p:sp>
      <p:graphicFrame>
        <p:nvGraphicFramePr>
          <p:cNvPr name="Object 23" id="23"/>
          <p:cNvGraphicFramePr/>
          <p:nvPr/>
        </p:nvGraphicFramePr>
        <p:xfrm>
          <a:off x="189196" y="1992527"/>
          <a:ext cx="13201650" cy="7752969"/>
        </p:xfrm>
        <a:graphic>
          <a:graphicData uri="http://schemas.openxmlformats.org/presentationml/2006/ole">
            <p:oleObj imgW="15836900" imgH="10388600" r:id="rId5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24" id="24"/>
          <p:cNvSpPr txBox="true"/>
          <p:nvPr/>
        </p:nvSpPr>
        <p:spPr>
          <a:xfrm rot="0">
            <a:off x="1028700" y="198157"/>
            <a:ext cx="7415687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283237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Cronograma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8700" y="1479095"/>
            <a:ext cx="16230600" cy="0"/>
          </a:xfrm>
          <a:prstGeom prst="line">
            <a:avLst/>
          </a:prstGeom>
          <a:ln cap="flat" w="9525">
            <a:solidFill>
              <a:srgbClr val="868E92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-479864" y="4348531"/>
            <a:ext cx="19247728" cy="1846041"/>
            <a:chOff x="0" y="0"/>
            <a:chExt cx="5069360" cy="4862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069360" cy="486200"/>
            </a:xfrm>
            <a:custGeom>
              <a:avLst/>
              <a:gdLst/>
              <a:ahLst/>
              <a:cxnLst/>
              <a:rect r="r" b="b" t="t" l="l"/>
              <a:pathLst>
                <a:path h="486200" w="5069360">
                  <a:moveTo>
                    <a:pt x="18100" y="0"/>
                  </a:moveTo>
                  <a:lnTo>
                    <a:pt x="5051260" y="0"/>
                  </a:lnTo>
                  <a:cubicBezTo>
                    <a:pt x="5056061" y="0"/>
                    <a:pt x="5060664" y="1907"/>
                    <a:pt x="5064059" y="5301"/>
                  </a:cubicBezTo>
                  <a:cubicBezTo>
                    <a:pt x="5067453" y="8696"/>
                    <a:pt x="5069360" y="13300"/>
                    <a:pt x="5069360" y="18100"/>
                  </a:cubicBezTo>
                  <a:lnTo>
                    <a:pt x="5069360" y="468100"/>
                  </a:lnTo>
                  <a:cubicBezTo>
                    <a:pt x="5069360" y="478096"/>
                    <a:pt x="5061257" y="486200"/>
                    <a:pt x="5051260" y="486200"/>
                  </a:cubicBezTo>
                  <a:lnTo>
                    <a:pt x="18100" y="486200"/>
                  </a:lnTo>
                  <a:cubicBezTo>
                    <a:pt x="8104" y="486200"/>
                    <a:pt x="0" y="478096"/>
                    <a:pt x="0" y="468100"/>
                  </a:cubicBezTo>
                  <a:lnTo>
                    <a:pt x="0" y="18100"/>
                  </a:lnTo>
                  <a:cubicBezTo>
                    <a:pt x="0" y="8104"/>
                    <a:pt x="8104" y="0"/>
                    <a:pt x="18100" y="0"/>
                  </a:cubicBezTo>
                  <a:close/>
                </a:path>
              </a:pathLst>
            </a:custGeom>
            <a:solidFill>
              <a:srgbClr val="EDEDED"/>
            </a:solidFill>
            <a:ln w="9525" cap="rnd">
              <a:solidFill>
                <a:srgbClr val="EE6703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5069360" cy="5147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9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28700" y="2243431"/>
            <a:ext cx="6480176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283237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Desarrollo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907124" y="2243431"/>
            <a:ext cx="8947504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EE6703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 del proyecto </a:t>
            </a:r>
          </a:p>
        </p:txBody>
      </p:sp>
      <p:sp>
        <p:nvSpPr>
          <p:cNvPr name="AutoShape 8" id="8"/>
          <p:cNvSpPr/>
          <p:nvPr/>
        </p:nvSpPr>
        <p:spPr>
          <a:xfrm>
            <a:off x="1191022" y="7545387"/>
            <a:ext cx="16068278" cy="0"/>
          </a:xfrm>
          <a:prstGeom prst="line">
            <a:avLst/>
          </a:prstGeom>
          <a:ln cap="flat" w="9525">
            <a:solidFill>
              <a:srgbClr val="868E9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1028700" y="1047750"/>
            <a:ext cx="2274712" cy="239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9"/>
              </a:lnSpc>
            </a:pPr>
            <a:r>
              <a:rPr lang="en-US" sz="1599" b="true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ADOPTAAMIGO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526441" y="1047750"/>
            <a:ext cx="732859" cy="220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759"/>
              </a:lnSpc>
            </a:pPr>
            <a:r>
              <a:rPr lang="en-US" sz="1599">
                <a:solidFill>
                  <a:srgbClr val="6E777B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03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28700" y="3782688"/>
            <a:ext cx="2809345" cy="2977726"/>
            <a:chOff x="0" y="0"/>
            <a:chExt cx="905013" cy="95925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05013" cy="959256"/>
            </a:xfrm>
            <a:custGeom>
              <a:avLst/>
              <a:gdLst/>
              <a:ahLst/>
              <a:cxnLst/>
              <a:rect r="r" b="b" t="t" l="l"/>
              <a:pathLst>
                <a:path h="959256" w="905013">
                  <a:moveTo>
                    <a:pt x="124010" y="0"/>
                  </a:moveTo>
                  <a:lnTo>
                    <a:pt x="781003" y="0"/>
                  </a:lnTo>
                  <a:cubicBezTo>
                    <a:pt x="813893" y="0"/>
                    <a:pt x="845435" y="13065"/>
                    <a:pt x="868692" y="36322"/>
                  </a:cubicBezTo>
                  <a:cubicBezTo>
                    <a:pt x="891948" y="59578"/>
                    <a:pt x="905013" y="91120"/>
                    <a:pt x="905013" y="124010"/>
                  </a:cubicBezTo>
                  <a:lnTo>
                    <a:pt x="905013" y="835246"/>
                  </a:lnTo>
                  <a:cubicBezTo>
                    <a:pt x="905013" y="903735"/>
                    <a:pt x="849492" y="959256"/>
                    <a:pt x="781003" y="959256"/>
                  </a:cubicBezTo>
                  <a:lnTo>
                    <a:pt x="124010" y="959256"/>
                  </a:lnTo>
                  <a:cubicBezTo>
                    <a:pt x="91120" y="959256"/>
                    <a:pt x="59578" y="946191"/>
                    <a:pt x="36322" y="922935"/>
                  </a:cubicBezTo>
                  <a:cubicBezTo>
                    <a:pt x="13065" y="899678"/>
                    <a:pt x="0" y="868136"/>
                    <a:pt x="0" y="835246"/>
                  </a:cubicBezTo>
                  <a:lnTo>
                    <a:pt x="0" y="124010"/>
                  </a:lnTo>
                  <a:cubicBezTo>
                    <a:pt x="0" y="55521"/>
                    <a:pt x="55521" y="0"/>
                    <a:pt x="12401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20803" r="0" b="-20803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3957901" y="8346523"/>
            <a:ext cx="10626441" cy="16038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3"/>
              </a:lnSpc>
            </a:pPr>
            <a:r>
              <a:rPr lang="en-US" sz="2176" b="true">
                <a:solidFill>
                  <a:srgbClr val="6E77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El proyecto AdoptaAmigo consiste en el desarrollo de una plataforma digital orientada a facilitar la adopción responsable de animales abandonados. La solución permitirá que los usuarios puedan consultar animales disponibles para adopción y conocer información relevante sobre ellos.</a:t>
            </a:r>
          </a:p>
          <a:p>
            <a:pPr algn="l">
              <a:lnSpc>
                <a:spcPts val="2393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5502452" y="3782688"/>
            <a:ext cx="2809345" cy="2977726"/>
            <a:chOff x="0" y="0"/>
            <a:chExt cx="905013" cy="95925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05013" cy="959256"/>
            </a:xfrm>
            <a:custGeom>
              <a:avLst/>
              <a:gdLst/>
              <a:ahLst/>
              <a:cxnLst/>
              <a:rect r="r" b="b" t="t" l="l"/>
              <a:pathLst>
                <a:path h="959256" w="905013">
                  <a:moveTo>
                    <a:pt x="124010" y="0"/>
                  </a:moveTo>
                  <a:lnTo>
                    <a:pt x="781003" y="0"/>
                  </a:lnTo>
                  <a:cubicBezTo>
                    <a:pt x="813893" y="0"/>
                    <a:pt x="845435" y="13065"/>
                    <a:pt x="868692" y="36322"/>
                  </a:cubicBezTo>
                  <a:cubicBezTo>
                    <a:pt x="891948" y="59578"/>
                    <a:pt x="905013" y="91120"/>
                    <a:pt x="905013" y="124010"/>
                  </a:cubicBezTo>
                  <a:lnTo>
                    <a:pt x="905013" y="835246"/>
                  </a:lnTo>
                  <a:cubicBezTo>
                    <a:pt x="905013" y="903735"/>
                    <a:pt x="849492" y="959256"/>
                    <a:pt x="781003" y="959256"/>
                  </a:cubicBezTo>
                  <a:lnTo>
                    <a:pt x="124010" y="959256"/>
                  </a:lnTo>
                  <a:cubicBezTo>
                    <a:pt x="91120" y="959256"/>
                    <a:pt x="59578" y="946191"/>
                    <a:pt x="36322" y="922935"/>
                  </a:cubicBezTo>
                  <a:cubicBezTo>
                    <a:pt x="13065" y="899678"/>
                    <a:pt x="0" y="868136"/>
                    <a:pt x="0" y="835246"/>
                  </a:cubicBezTo>
                  <a:lnTo>
                    <a:pt x="0" y="124010"/>
                  </a:lnTo>
                  <a:cubicBezTo>
                    <a:pt x="0" y="55521"/>
                    <a:pt x="55521" y="0"/>
                    <a:pt x="124010" y="0"/>
                  </a:cubicBezTo>
                  <a:close/>
                </a:path>
              </a:pathLst>
            </a:custGeom>
            <a:blipFill>
              <a:blip r:embed="rId3"/>
              <a:stretch>
                <a:fillRect l="-34817" t="0" r="-24028" b="0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9976204" y="3782688"/>
            <a:ext cx="2809345" cy="2977726"/>
            <a:chOff x="0" y="0"/>
            <a:chExt cx="905013" cy="9592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05013" cy="959256"/>
            </a:xfrm>
            <a:custGeom>
              <a:avLst/>
              <a:gdLst/>
              <a:ahLst/>
              <a:cxnLst/>
              <a:rect r="r" b="b" t="t" l="l"/>
              <a:pathLst>
                <a:path h="959256" w="905013">
                  <a:moveTo>
                    <a:pt x="124010" y="0"/>
                  </a:moveTo>
                  <a:lnTo>
                    <a:pt x="781003" y="0"/>
                  </a:lnTo>
                  <a:cubicBezTo>
                    <a:pt x="813893" y="0"/>
                    <a:pt x="845435" y="13065"/>
                    <a:pt x="868692" y="36322"/>
                  </a:cubicBezTo>
                  <a:cubicBezTo>
                    <a:pt x="891948" y="59578"/>
                    <a:pt x="905013" y="91120"/>
                    <a:pt x="905013" y="124010"/>
                  </a:cubicBezTo>
                  <a:lnTo>
                    <a:pt x="905013" y="835246"/>
                  </a:lnTo>
                  <a:cubicBezTo>
                    <a:pt x="905013" y="903735"/>
                    <a:pt x="849492" y="959256"/>
                    <a:pt x="781003" y="959256"/>
                  </a:cubicBezTo>
                  <a:lnTo>
                    <a:pt x="124010" y="959256"/>
                  </a:lnTo>
                  <a:cubicBezTo>
                    <a:pt x="91120" y="959256"/>
                    <a:pt x="59578" y="946191"/>
                    <a:pt x="36322" y="922935"/>
                  </a:cubicBezTo>
                  <a:cubicBezTo>
                    <a:pt x="13065" y="899678"/>
                    <a:pt x="0" y="868136"/>
                    <a:pt x="0" y="835246"/>
                  </a:cubicBezTo>
                  <a:lnTo>
                    <a:pt x="0" y="124010"/>
                  </a:lnTo>
                  <a:cubicBezTo>
                    <a:pt x="0" y="55521"/>
                    <a:pt x="55521" y="0"/>
                    <a:pt x="12401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8566" r="0" b="-8566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4449955" y="3782688"/>
            <a:ext cx="2809345" cy="2977726"/>
            <a:chOff x="0" y="0"/>
            <a:chExt cx="905013" cy="95925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05013" cy="959256"/>
            </a:xfrm>
            <a:custGeom>
              <a:avLst/>
              <a:gdLst/>
              <a:ahLst/>
              <a:cxnLst/>
              <a:rect r="r" b="b" t="t" l="l"/>
              <a:pathLst>
                <a:path h="959256" w="905013">
                  <a:moveTo>
                    <a:pt x="124010" y="0"/>
                  </a:moveTo>
                  <a:lnTo>
                    <a:pt x="781003" y="0"/>
                  </a:lnTo>
                  <a:cubicBezTo>
                    <a:pt x="813893" y="0"/>
                    <a:pt x="845435" y="13065"/>
                    <a:pt x="868692" y="36322"/>
                  </a:cubicBezTo>
                  <a:cubicBezTo>
                    <a:pt x="891948" y="59578"/>
                    <a:pt x="905013" y="91120"/>
                    <a:pt x="905013" y="124010"/>
                  </a:cubicBezTo>
                  <a:lnTo>
                    <a:pt x="905013" y="835246"/>
                  </a:lnTo>
                  <a:cubicBezTo>
                    <a:pt x="905013" y="903735"/>
                    <a:pt x="849492" y="959256"/>
                    <a:pt x="781003" y="959256"/>
                  </a:cubicBezTo>
                  <a:lnTo>
                    <a:pt x="124010" y="959256"/>
                  </a:lnTo>
                  <a:cubicBezTo>
                    <a:pt x="91120" y="959256"/>
                    <a:pt x="59578" y="946191"/>
                    <a:pt x="36322" y="922935"/>
                  </a:cubicBezTo>
                  <a:cubicBezTo>
                    <a:pt x="13065" y="899678"/>
                    <a:pt x="0" y="868136"/>
                    <a:pt x="0" y="835246"/>
                  </a:cubicBezTo>
                  <a:lnTo>
                    <a:pt x="0" y="124010"/>
                  </a:lnTo>
                  <a:cubicBezTo>
                    <a:pt x="0" y="55521"/>
                    <a:pt x="55521" y="0"/>
                    <a:pt x="124010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10867" r="0" b="-10867"/>
              </a:stretch>
            </a:blipFill>
            <a:ln w="9525" cap="rnd">
              <a:solidFill>
                <a:srgbClr val="EE6703"/>
              </a:solidFill>
              <a:prstDash val="solid"/>
              <a:round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1028700" y="7411001"/>
            <a:ext cx="268772" cy="268772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E6703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5502452" y="7411001"/>
            <a:ext cx="268772" cy="268772"/>
            <a:chOff x="0" y="0"/>
            <a:chExt cx="812800" cy="8128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E670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976204" y="7411001"/>
            <a:ext cx="268772" cy="268772"/>
            <a:chOff x="0" y="0"/>
            <a:chExt cx="812800" cy="8128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E6703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449955" y="7411001"/>
            <a:ext cx="268772" cy="268772"/>
            <a:chOff x="0" y="0"/>
            <a:chExt cx="812800" cy="8128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E6703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59313" y="1171575"/>
            <a:ext cx="14382258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EE6703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Prototipo del Aplicativo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59313" y="4299980"/>
            <a:ext cx="16208035" cy="33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00"/>
              </a:lnSpc>
            </a:pPr>
            <a:r>
              <a:rPr lang="en-US" sz="6300" spc="-63" b="true">
                <a:solidFill>
                  <a:srgbClr val="283237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Figma:</a:t>
            </a:r>
          </a:p>
          <a:p>
            <a:pPr algn="l">
              <a:lnSpc>
                <a:spcPts val="5000"/>
              </a:lnSpc>
            </a:pPr>
            <a:r>
              <a:rPr lang="en-US" sz="5000" spc="-50" b="true">
                <a:solidFill>
                  <a:srgbClr val="283237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 https://www.figma.com/design/z0ilMgPQ0FoV9lcuKkYebr/AdoptaAmigo?node-id=6-447&amp;t=TGE9mop9EpeUJmvk-1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69424" y="2116132"/>
            <a:ext cx="16051238" cy="8534964"/>
          </a:xfrm>
          <a:custGeom>
            <a:avLst/>
            <a:gdLst/>
            <a:ahLst/>
            <a:cxnLst/>
            <a:rect r="r" b="b" t="t" l="l"/>
            <a:pathLst>
              <a:path h="8534964" w="16051238">
                <a:moveTo>
                  <a:pt x="0" y="0"/>
                </a:moveTo>
                <a:lnTo>
                  <a:pt x="16051239" y="0"/>
                </a:lnTo>
                <a:lnTo>
                  <a:pt x="16051239" y="8534963"/>
                </a:lnTo>
                <a:lnTo>
                  <a:pt x="0" y="85349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30063" y="565150"/>
            <a:ext cx="15905066" cy="2079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EE6703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                   de Base de </a:t>
            </a:r>
          </a:p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EE6703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Datos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30063" y="565150"/>
            <a:ext cx="6480176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80" b="true">
                <a:solidFill>
                  <a:srgbClr val="283237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Diagrama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E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845509">
            <a:off x="-2222413" y="8168201"/>
            <a:ext cx="5264096" cy="4237597"/>
          </a:xfrm>
          <a:custGeom>
            <a:avLst/>
            <a:gdLst/>
            <a:ahLst/>
            <a:cxnLst/>
            <a:rect r="r" b="b" t="t" l="l"/>
            <a:pathLst>
              <a:path h="4237597" w="5264096">
                <a:moveTo>
                  <a:pt x="0" y="0"/>
                </a:moveTo>
                <a:lnTo>
                  <a:pt x="5264096" y="0"/>
                </a:lnTo>
                <a:lnTo>
                  <a:pt x="5264096" y="4237598"/>
                </a:lnTo>
                <a:lnTo>
                  <a:pt x="0" y="423759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94614" y="-810875"/>
            <a:ext cx="3008496" cy="2421840"/>
          </a:xfrm>
          <a:custGeom>
            <a:avLst/>
            <a:gdLst/>
            <a:ahLst/>
            <a:cxnLst/>
            <a:rect r="r" b="b" t="t" l="l"/>
            <a:pathLst>
              <a:path h="2421840" w="3008496">
                <a:moveTo>
                  <a:pt x="0" y="0"/>
                </a:moveTo>
                <a:lnTo>
                  <a:pt x="3008497" y="0"/>
                </a:lnTo>
                <a:lnTo>
                  <a:pt x="3008497" y="2421840"/>
                </a:lnTo>
                <a:lnTo>
                  <a:pt x="0" y="24218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804335" y="8325409"/>
            <a:ext cx="4186773" cy="3370352"/>
          </a:xfrm>
          <a:custGeom>
            <a:avLst/>
            <a:gdLst/>
            <a:ahLst/>
            <a:cxnLst/>
            <a:rect r="r" b="b" t="t" l="l"/>
            <a:pathLst>
              <a:path h="3370352" w="4186773">
                <a:moveTo>
                  <a:pt x="0" y="0"/>
                </a:moveTo>
                <a:lnTo>
                  <a:pt x="4186773" y="0"/>
                </a:lnTo>
                <a:lnTo>
                  <a:pt x="4186773" y="3370352"/>
                </a:lnTo>
                <a:lnTo>
                  <a:pt x="0" y="33703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733788" y="2562994"/>
            <a:ext cx="679401" cy="638637"/>
          </a:xfrm>
          <a:custGeom>
            <a:avLst/>
            <a:gdLst/>
            <a:ahLst/>
            <a:cxnLst/>
            <a:rect r="r" b="b" t="t" l="l"/>
            <a:pathLst>
              <a:path h="638637" w="679401">
                <a:moveTo>
                  <a:pt x="0" y="0"/>
                </a:moveTo>
                <a:lnTo>
                  <a:pt x="679402" y="0"/>
                </a:lnTo>
                <a:lnTo>
                  <a:pt x="679402" y="638638"/>
                </a:lnTo>
                <a:lnTo>
                  <a:pt x="0" y="638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1181100" y="1631495"/>
            <a:ext cx="16230600" cy="0"/>
          </a:xfrm>
          <a:prstGeom prst="line">
            <a:avLst/>
          </a:prstGeom>
          <a:ln cap="flat" w="9525">
            <a:solidFill>
              <a:srgbClr val="868E9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4911410" y="-810875"/>
            <a:ext cx="4732940" cy="3810017"/>
          </a:xfrm>
          <a:custGeom>
            <a:avLst/>
            <a:gdLst/>
            <a:ahLst/>
            <a:cxnLst/>
            <a:rect r="r" b="b" t="t" l="l"/>
            <a:pathLst>
              <a:path h="3810017" w="4732940">
                <a:moveTo>
                  <a:pt x="0" y="0"/>
                </a:moveTo>
                <a:lnTo>
                  <a:pt x="4732940" y="0"/>
                </a:lnTo>
                <a:lnTo>
                  <a:pt x="4732940" y="3810017"/>
                </a:lnTo>
                <a:lnTo>
                  <a:pt x="0" y="38100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175779" y="864272"/>
            <a:ext cx="14588282" cy="3841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360"/>
              </a:lnSpc>
            </a:pPr>
            <a:r>
              <a:rPr lang="en-US" sz="22400" b="true">
                <a:solidFill>
                  <a:srgbClr val="000000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Muchas  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3624132" y="2171352"/>
            <a:ext cx="10776903" cy="10776903"/>
          </a:xfrm>
          <a:custGeom>
            <a:avLst/>
            <a:gdLst/>
            <a:ahLst/>
            <a:cxnLst/>
            <a:rect r="r" b="b" t="t" l="l"/>
            <a:pathLst>
              <a:path h="10776903" w="10776903">
                <a:moveTo>
                  <a:pt x="0" y="0"/>
                </a:moveTo>
                <a:lnTo>
                  <a:pt x="10776903" y="0"/>
                </a:lnTo>
                <a:lnTo>
                  <a:pt x="10776903" y="10776903"/>
                </a:lnTo>
                <a:lnTo>
                  <a:pt x="0" y="10776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3051065" y="3842377"/>
            <a:ext cx="4531519" cy="1377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true">
                <a:solidFill>
                  <a:srgbClr val="000000"/>
                </a:solidFill>
                <a:latin typeface="Anantason UltraExpanded Bold"/>
                <a:ea typeface="Anantason UltraExpanded Bold"/>
                <a:cs typeface="Anantason UltraExpanded Bold"/>
                <a:sym typeface="Anantason UltraExpanded Bold"/>
              </a:rPr>
              <a:t>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DAHVH2gxJIE</dc:identifier>
  <dcterms:modified xsi:type="dcterms:W3CDTF">2011-08-01T06:04:30Z</dcterms:modified>
  <cp:revision>1</cp:revision>
  <dc:title>Orange Black and White Modern Dogs Presentation</dc:title>
</cp:coreProperties>
</file>